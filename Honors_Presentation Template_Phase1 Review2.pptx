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89" r:id="rId3"/>
    <p:sldId id="301" r:id="rId4"/>
    <p:sldId id="307" r:id="rId5"/>
    <p:sldId id="303" r:id="rId6"/>
    <p:sldId id="302" r:id="rId7"/>
    <p:sldId id="305" r:id="rId8"/>
    <p:sldId id="306" r:id="rId9"/>
    <p:sldId id="310" r:id="rId10"/>
    <p:sldId id="292" r:id="rId11"/>
    <p:sldId id="291" r:id="rId12"/>
    <p:sldId id="312" r:id="rId13"/>
    <p:sldId id="299" r:id="rId14"/>
    <p:sldId id="293" r:id="rId15"/>
    <p:sldId id="308" r:id="rId16"/>
    <p:sldId id="313" r:id="rId17"/>
    <p:sldId id="315" r:id="rId18"/>
    <p:sldId id="296" r:id="rId19"/>
    <p:sldId id="31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10" autoAdjust="0"/>
  </p:normalViewPr>
  <p:slideViewPr>
    <p:cSldViewPr snapToGrid="0">
      <p:cViewPr varScale="1">
        <p:scale>
          <a:sx n="77" d="100"/>
          <a:sy n="77" d="100"/>
        </p:scale>
        <p:origin x="88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FFFB8-1DD6-4435-808E-1D76E7AD059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892A09-5F36-416A-89C0-E370DBF6C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730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3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558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296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36459-BB7B-4069-DB1E-53DA258CD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CC1C50-1681-A4D2-6684-DA80EC59DA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CC562E-D610-2D76-EE06-7CDBE61AD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EE524-254C-A87B-790E-F443A87450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1953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4300E-0486-FC9E-D95C-C57177C2D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AC1AE6-4881-186C-166F-06AD6A7C83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A7ABD7-2EC1-4852-59BC-D5F10A581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6029E-BA81-2187-CF56-C49028B2A6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6302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4233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FAFF6-9F08-EB9D-BC30-F964BB2D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49D7C4-2F3D-89A7-15CE-0846DF09AF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729422-3E10-9899-C3E7-EF6C6DF69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B3607B-9375-9F23-F581-77FEA3BE85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5229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669C4-E753-D524-9A73-62C6CD889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4630DF-D20F-9676-16AB-A4F395979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1F44F1-A5B7-96B0-2658-9E26B1955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0DF02-2361-C6D8-3E53-04735EFD89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324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D9A5E-805C-3DF6-DBFC-99D17A8AD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AB22E-3968-5BFA-5E83-83F47D76BF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E15FFF-518B-7C61-7D79-BF75CAE900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0A244-5862-F53A-793E-59B848893A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9258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951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2868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C5B91-42B5-D3F4-C050-969CE8157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94CFA5-66A9-465F-DEE7-030CA29D1A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36A83B-FE24-9933-0B84-67E66683F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F1DD6-4803-9539-AFBC-ADA2F52018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1178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5792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2017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11BB1-B47A-E6FD-431F-605B076DB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903B59-A35B-8BDA-EE1C-75DD71BC1E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6B2CA8-F8A0-B8D7-8BC8-00FFAC2BA1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67C4F-CFFF-DB5B-5F7C-BEF7089B03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360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8E6EC-1CF1-9CEA-C2E5-64C9B36C5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12FBA8-B1D6-1D07-3E4E-D13E133870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8C62C8-D801-8DE0-32DC-F5D0FC881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68299-5581-8584-1591-D8F9BE4734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203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64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17BCF-43D5-2423-503B-255CF17C7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11E3F6-90F2-320C-C0AC-5339D0641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6711FD-792A-5CC2-D3C2-1BA4E8D36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3BE57-F569-A289-484E-07506A6139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506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B47E-7FD2-4F7F-9381-C4308D258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2F421-AC29-47BD-8892-41909CF19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CFB46-51B2-43F8-B3E5-F10413A22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3CC8D-DF4F-4537-888A-8EE6EA88B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3F124-D10F-42EF-94F2-7FBC9565E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035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FAF84-1226-4033-A36F-9CBF8F50C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2083-37E7-4972-9BD5-DD44F1A3C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2F544-050C-4AB9-9095-D9D49AAD2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A83C4-112A-4972-9490-E0C0BFDA0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7559D-8902-4FE2-8DC9-183BD5B08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233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EF2A-5C6B-4555-B136-8C1C3CF3E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2A057-50B5-4DD0-8F0A-F2D8D5D2B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4B264-D1AA-42A0-AFED-4F6CAB8BF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7B74F-FC03-4A6C-A8E2-A0A538917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910F8-597D-4792-BAC8-A78F4A425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809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D0B0B-FB76-4571-8977-8B3C08C5D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7BF79-B272-4FC4-9106-632C8D23CA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8AF5FA-67E8-4EBE-A468-53B751D6C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AA619-C884-49E4-BAB7-9893F9220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5F6F1-CD3D-4683-B56A-CA4563B56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63B8C-7D18-4E19-8978-D5C6EBA98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600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77B01-8C23-4336-B1C3-FF72D68AA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695C1-E1E9-4A98-937E-ED1C020AD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75512-181D-4D77-8CAF-A5144E14B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5E4DC-DF2F-4F4A-8F3F-9A0A93E622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2C58E7-FA62-4552-96A3-2A99033860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98AE32-9603-437D-8BF7-0E77546FC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01969E-3CD1-4F9E-A7E7-B9B4EF8A0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97F010-A6F0-4DF8-A842-5E31FC018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96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E5A20-2A9F-4D6C-943E-3346E4B88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66C692-C827-4E55-AFA5-76012CD1D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9F3284-9696-48B8-984D-EF44AFF57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3B2182-6056-4315-85AF-6B170A3BD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89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3127D1-DB28-4E2E-AB99-81CE7B31D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D74E91-7F9D-445A-9D5A-D936D47F6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7EE57-433A-40AE-9D93-D33BBB3E7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966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5A1A1-4F5E-44F9-B94A-C250BE555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D6C8D-A700-4FCE-B56C-3A9ABC2F1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10EC8-7B17-4C9B-9964-44916E021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220A7F-94E3-4E5B-BFA0-48322E2FC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378A7-2C2A-4383-8653-F4DA3178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8D93A-9480-4E63-8798-CD24AF0A9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447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F6621-ECC8-4152-9057-81E2FDAE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3B2BEA-9AD4-4A0C-A422-54C36BB84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26CA7-371A-43DB-8F97-FAC204E225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BBC57-3C07-4506-B4A1-832FDC2A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FE5C9-2CC7-4F1D-BC56-0A551A41B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682B3-FAFE-491A-8C8A-4FCDBD771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86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54D76-6DBE-44B7-BA10-CABAE4DC1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751C6-4C65-4D0C-803C-D873E7572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3335A-CD1D-48A4-BBF1-DFE274F90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D7192-B6E0-4D23-B0F4-2ED81C24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35068-BFD5-4BFC-983A-200964FB6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487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EE84AD-9F49-48BE-9C47-E797DEF60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AD3D05-FE87-4F0F-8AD2-D3A0256B3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D02F6-DF5D-4A18-81E3-7798A49C0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3DD7E-1A38-4F0A-8410-AFE04DC7F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A0932-B146-44C0-800B-F7D153BAA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585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695D76-3F76-4440-BE44-E11DC8D09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57BFB-E7FD-43C8-A3D2-454449D5C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78B87-4569-4FAE-AC1E-60B780FF4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F855A-7651-4E31-8BB5-9B7BFCF8676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9C498-524F-43DB-8E60-5093D891D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A8424-BFE9-4B1D-B213-4F570AB34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50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7748" y="1614178"/>
            <a:ext cx="9144000" cy="1428332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Influential Node Detection in Weighted Graphs using Graph Convolutional Networks</a:t>
            </a:r>
            <a:br>
              <a:rPr lang="en-IN" sz="4800" dirty="0"/>
            </a:br>
            <a:r>
              <a:rPr lang="en-IN" sz="2700" dirty="0"/>
              <a:t>Honours Project Phase1 Review2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82930" y="3187134"/>
            <a:ext cx="9144000" cy="1655762"/>
          </a:xfrm>
        </p:spPr>
        <p:txBody>
          <a:bodyPr/>
          <a:lstStyle/>
          <a:p>
            <a:r>
              <a:rPr lang="en-IN" sz="2800" dirty="0"/>
              <a:t>By</a:t>
            </a:r>
          </a:p>
          <a:p>
            <a:r>
              <a:rPr lang="en-IN" sz="2800" i="1" dirty="0"/>
              <a:t>Albin John</a:t>
            </a:r>
          </a:p>
          <a:p>
            <a:r>
              <a:rPr lang="en-IN" sz="2800" i="1" dirty="0"/>
              <a:t>2023BCD0005</a:t>
            </a: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64305" y="6112042"/>
            <a:ext cx="4989095" cy="609433"/>
          </a:xfrm>
        </p:spPr>
        <p:txBody>
          <a:bodyPr/>
          <a:lstStyle/>
          <a:p>
            <a:r>
              <a:rPr lang="en-US" dirty="0"/>
              <a:t>Indian Institute of Information Technology </a:t>
            </a:r>
            <a:r>
              <a:rPr lang="en-US" dirty="0" err="1"/>
              <a:t>Kottayam</a:t>
            </a:r>
            <a:endParaRPr lang="en-US" dirty="0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7865175" y="5443347"/>
            <a:ext cx="3474492" cy="1029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Guided By,</a:t>
            </a:r>
          </a:p>
          <a:p>
            <a:r>
              <a:rPr lang="en-IN" dirty="0"/>
              <a:t>Dr. Jisha Mariyam John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2525230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041" y="163397"/>
            <a:ext cx="10515600" cy="1325563"/>
          </a:xfrm>
        </p:spPr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041" y="1288910"/>
            <a:ext cx="11353800" cy="4530725"/>
          </a:xfrm>
        </p:spPr>
        <p:txBody>
          <a:bodyPr>
            <a:noAutofit/>
          </a:bodyPr>
          <a:lstStyle/>
          <a:p>
            <a:pPr>
              <a:spcAft>
                <a:spcPts val="400"/>
              </a:spcAft>
              <a:defRPr sz="2400">
                <a:latin typeface="Calibri"/>
              </a:defRPr>
            </a:pPr>
            <a:r>
              <a:rPr lang="en-IN" sz="1600" dirty="0"/>
              <a:t>Introduction &amp; Motivation</a:t>
            </a:r>
          </a:p>
          <a:p>
            <a:pPr>
              <a:spcAft>
                <a:spcPts val="400"/>
              </a:spcAft>
              <a:defRPr sz="2400">
                <a:latin typeface="Calibri"/>
              </a:defRPr>
            </a:pPr>
            <a:r>
              <a:rPr lang="en-IN" sz="1600" dirty="0"/>
              <a:t>Problem Statement &amp; Objectives</a:t>
            </a:r>
          </a:p>
          <a:p>
            <a:pPr>
              <a:spcAft>
                <a:spcPts val="400"/>
              </a:spcAft>
              <a:defRPr sz="2400">
                <a:latin typeface="Calibri"/>
              </a:defRPr>
            </a:pPr>
            <a:r>
              <a:rPr lang="en-IN" sz="1600" dirty="0"/>
              <a:t>Methodology - NLGCN Framework</a:t>
            </a:r>
          </a:p>
          <a:p>
            <a:pPr>
              <a:spcAft>
                <a:spcPts val="400"/>
              </a:spcAft>
              <a:defRPr sz="2400">
                <a:latin typeface="Calibri"/>
              </a:defRPr>
            </a:pPr>
            <a:r>
              <a:rPr lang="en-IN" sz="1600" dirty="0"/>
              <a:t>Structural Features (NLI &amp; NGI)</a:t>
            </a:r>
          </a:p>
          <a:p>
            <a:pPr>
              <a:spcAft>
                <a:spcPts val="400"/>
              </a:spcAft>
              <a:defRPr sz="2400">
                <a:latin typeface="Calibri"/>
              </a:defRPr>
            </a:pPr>
            <a:r>
              <a:rPr lang="en-IN" sz="1600" dirty="0"/>
              <a:t>Model Architecture</a:t>
            </a:r>
          </a:p>
          <a:p>
            <a:pPr>
              <a:spcAft>
                <a:spcPts val="400"/>
              </a:spcAft>
              <a:defRPr sz="2400">
                <a:latin typeface="Calibri"/>
              </a:defRPr>
            </a:pPr>
            <a:r>
              <a:rPr lang="en-IN" sz="1600" dirty="0"/>
              <a:t>Experimental Setup &amp; Datasets</a:t>
            </a:r>
          </a:p>
          <a:p>
            <a:pPr>
              <a:spcAft>
                <a:spcPts val="400"/>
              </a:spcAft>
              <a:defRPr sz="2400">
                <a:latin typeface="Calibri"/>
              </a:defRPr>
            </a:pPr>
            <a:r>
              <a:rPr lang="en-IN" sz="1600" dirty="0"/>
              <a:t>Results - Kendall Tau Correlation</a:t>
            </a:r>
          </a:p>
          <a:p>
            <a:pPr>
              <a:spcAft>
                <a:spcPts val="400"/>
              </a:spcAft>
              <a:defRPr sz="2400">
                <a:latin typeface="Calibri"/>
              </a:defRPr>
            </a:pPr>
            <a:r>
              <a:rPr lang="en-IN" sz="1600" dirty="0"/>
              <a:t>Results -Top-10 Node Identification</a:t>
            </a:r>
          </a:p>
          <a:p>
            <a:pPr>
              <a:spcAft>
                <a:spcPts val="400"/>
              </a:spcAft>
              <a:defRPr sz="2400">
                <a:latin typeface="Calibri"/>
              </a:defRPr>
            </a:pPr>
            <a:r>
              <a:rPr lang="en-IN" sz="1600" dirty="0"/>
              <a:t>Discussion</a:t>
            </a:r>
          </a:p>
          <a:p>
            <a:pPr>
              <a:spcAft>
                <a:spcPts val="400"/>
              </a:spcAft>
              <a:defRPr sz="2400">
                <a:latin typeface="Calibri"/>
              </a:defRPr>
            </a:pPr>
            <a:r>
              <a:rPr lang="en-IN" sz="1600" dirty="0"/>
              <a:t>Limitations</a:t>
            </a:r>
          </a:p>
          <a:p>
            <a:pPr>
              <a:spcAft>
                <a:spcPts val="400"/>
              </a:spcAft>
              <a:defRPr sz="2400">
                <a:latin typeface="Calibri"/>
              </a:defRPr>
            </a:pPr>
            <a:r>
              <a:rPr lang="en-IN" sz="1600" dirty="0"/>
              <a:t>Future Work</a:t>
            </a:r>
          </a:p>
          <a:p>
            <a:pPr>
              <a:spcAft>
                <a:spcPts val="400"/>
              </a:spcAft>
              <a:defRPr sz="2400">
                <a:latin typeface="Calibri"/>
              </a:defRPr>
            </a:pPr>
            <a:r>
              <a:rPr lang="en-IN" sz="1600" dirty="0"/>
              <a:t>References</a:t>
            </a:r>
            <a:endParaRPr lang="en-US" sz="1600" dirty="0"/>
          </a:p>
          <a:p>
            <a:endParaRPr lang="en-US" sz="1600" dirty="0"/>
          </a:p>
          <a:p>
            <a:endParaRPr lang="en-IN" sz="1600" dirty="0"/>
          </a:p>
          <a:p>
            <a:endParaRPr lang="en-IN" sz="1600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2</a:t>
            </a:fld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066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930" y="265235"/>
            <a:ext cx="10515600" cy="1325563"/>
          </a:xfrm>
        </p:spPr>
        <p:txBody>
          <a:bodyPr/>
          <a:lstStyle/>
          <a:p>
            <a:r>
              <a:rPr lang="en-IN" dirty="0"/>
              <a:t>Introduction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8930" y="1027906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Influential Node Detection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3</a:t>
            </a:fld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53FE1F-1B1F-62AA-A56C-E67FA86ABF9D}"/>
              </a:ext>
            </a:extLst>
          </p:cNvPr>
          <p:cNvSpPr txBox="1"/>
          <p:nvPr/>
        </p:nvSpPr>
        <p:spPr>
          <a:xfrm>
            <a:off x="838200" y="2153690"/>
            <a:ext cx="10770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Complex systems such as social, biological, financial, and transportation networks are modeled as graphs. In complex networks, not all nodes contribute equally.</a:t>
            </a:r>
            <a:endParaRPr lang="en-IN" sz="24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9731F5A-B4F1-24B5-97AE-7D03CCFEA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3184539"/>
            <a:ext cx="1123703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Some nodes play a critical role 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dirty="0"/>
              <a:t>•  Information diffusion &amp; viral marketing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dirty="0"/>
              <a:t>•  Epidemic spreading &amp; vaccination strategies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dirty="0"/>
              <a:t>•  Network stability &amp; infrastructure resilience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>
              <a:defRPr sz="2200" b="0">
                <a:latin typeface="Calibri"/>
              </a:defRPr>
            </a:pPr>
            <a:r>
              <a:rPr lang="en-US" sz="2400" dirty="0"/>
              <a:t>Identifying these critical nodes efficiently is a fundamental problem in network science.</a:t>
            </a:r>
          </a:p>
        </p:txBody>
      </p:sp>
    </p:spTree>
    <p:extLst>
      <p:ext uri="{BB962C8B-B14F-4D97-AF65-F5344CB8AC3E}">
        <p14:creationId xmlns:p14="http://schemas.microsoft.com/office/powerpoint/2010/main" val="3403876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D9C3B-6E15-072E-7DC1-A8DC81B6B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89A16-38A2-5D1C-494F-C86D84866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930" y="265235"/>
            <a:ext cx="10515600" cy="1325563"/>
          </a:xfrm>
        </p:spPr>
        <p:txBody>
          <a:bodyPr/>
          <a:lstStyle/>
          <a:p>
            <a:r>
              <a:rPr lang="en-IN" dirty="0"/>
              <a:t>Motivation — The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E2AC0-BBFF-D589-F3D3-4411308CA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096" y="926922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Why existing methods fall short: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C4ECFC1-8AE9-AE47-A6EE-ADD921EFC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B5A9BF6-2E4A-946D-B8D3-9DE71EE8B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4</a:t>
            </a:fld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C8FE36-C8DF-D28F-9FBB-A5C2EAA050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5426E5-CEE1-B343-0735-3AF1F9E0CA24}"/>
              </a:ext>
            </a:extLst>
          </p:cNvPr>
          <p:cNvSpPr txBox="1"/>
          <p:nvPr/>
        </p:nvSpPr>
        <p:spPr>
          <a:xfrm>
            <a:off x="861391" y="2015191"/>
            <a:ext cx="106282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>
                <a:latin typeface="Calibri"/>
              </a:defRPr>
            </a:pPr>
            <a:r>
              <a:rPr lang="en-US" sz="2400" dirty="0"/>
              <a:t>Limitation 1 : Traditional centrality measures (Degree, Betweenness, K-Shell)</a:t>
            </a:r>
          </a:p>
          <a:p>
            <a:pPr>
              <a:defRPr sz="2000" b="0">
                <a:latin typeface="Calibri"/>
              </a:defRPr>
            </a:pPr>
            <a:r>
              <a:rPr lang="en-US" sz="2400" dirty="0"/>
              <a:t>  •  Rely on a single structural perspective</a:t>
            </a:r>
          </a:p>
          <a:p>
            <a:pPr>
              <a:defRPr sz="2000" b="0">
                <a:latin typeface="Calibri"/>
              </a:defRPr>
            </a:pPr>
            <a:r>
              <a:rPr lang="en-US" sz="2400" dirty="0"/>
              <a:t>  •  Cannot capture multi-scale influence patterns</a:t>
            </a:r>
          </a:p>
          <a:p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BB2813-4F18-D05C-8617-13C0E57F183A}"/>
              </a:ext>
            </a:extLst>
          </p:cNvPr>
          <p:cNvSpPr txBox="1"/>
          <p:nvPr/>
        </p:nvSpPr>
        <p:spPr>
          <a:xfrm>
            <a:off x="861390" y="3329089"/>
            <a:ext cx="106282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>
                <a:latin typeface="Calibri"/>
              </a:defRPr>
            </a:pPr>
            <a:r>
              <a:rPr lang="en-US" sz="2400" dirty="0"/>
              <a:t>Limitation 2 : SIR Simulation-based approaches</a:t>
            </a:r>
          </a:p>
          <a:p>
            <a:pPr>
              <a:defRPr sz="2000" b="0">
                <a:latin typeface="Calibri"/>
              </a:defRPr>
            </a:pPr>
            <a:r>
              <a:rPr lang="en-US" sz="2400" dirty="0"/>
              <a:t>  •  Accurate but computationally expensive - O(n³)</a:t>
            </a:r>
          </a:p>
          <a:p>
            <a:pPr>
              <a:defRPr sz="2000" b="0">
                <a:latin typeface="Calibri"/>
              </a:defRPr>
            </a:pPr>
            <a:r>
              <a:rPr lang="en-US" sz="2400" dirty="0"/>
              <a:t>  •  Do not scale to large networks</a:t>
            </a:r>
          </a:p>
          <a:p>
            <a:endParaRPr lang="en-IN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DDEBCF-5295-2C3F-4800-CFAFB864A557}"/>
              </a:ext>
            </a:extLst>
          </p:cNvPr>
          <p:cNvSpPr txBox="1"/>
          <p:nvPr/>
        </p:nvSpPr>
        <p:spPr>
          <a:xfrm>
            <a:off x="781878" y="4898749"/>
            <a:ext cx="106282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0">
                <a:latin typeface="Calibri"/>
              </a:defRPr>
            </a:pPr>
            <a:r>
              <a:rPr lang="en-US" sz="2400" b="1" dirty="0"/>
              <a:t>Solution: </a:t>
            </a:r>
            <a:r>
              <a:rPr lang="en-US" sz="2400" dirty="0"/>
              <a:t>NLGCN [3], a fast, learning-based method combining multi-scale structural features with convolutional deep learning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45913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CD76D-0A60-439B-A7FD-6797654EF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22864-9990-1F14-AC5E-81581D968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041" y="136525"/>
            <a:ext cx="10515600" cy="1325563"/>
          </a:xfrm>
        </p:spPr>
        <p:txBody>
          <a:bodyPr/>
          <a:lstStyle/>
          <a:p>
            <a:r>
              <a:rPr lang="en-IN" dirty="0"/>
              <a:t>Problem Statement &amp; Objectives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B727BE-FC1A-CA1D-3F40-270811A76B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5495" y="1451112"/>
                <a:ext cx="11191461" cy="18784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  <a:defRPr sz="2000" b="1">
                    <a:latin typeface="Calibri"/>
                  </a:defRPr>
                </a:pPr>
                <a:r>
                  <a:rPr lang="en-US" sz="2400" dirty="0"/>
                  <a:t>Problem Statement:</a:t>
                </a:r>
              </a:p>
              <a:p>
                <a:pPr>
                  <a:defRPr sz="2000" b="0">
                    <a:latin typeface="Calibri"/>
                  </a:defRPr>
                </a:pPr>
                <a:r>
                  <a:rPr lang="en-IN" sz="2000" dirty="0"/>
                  <a:t>Given a </a:t>
                </a:r>
                <a:r>
                  <a:rPr lang="en-IN" sz="2000" b="1" dirty="0"/>
                  <a:t>weighted undirected graph</a:t>
                </a:r>
                <a:r>
                  <a:rPr lang="en-IN" sz="2000" dirty="0"/>
                  <a:t>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0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</m:oMath>
                </a14:m>
                <a:r>
                  <a:rPr lang="ar-AE" sz="2000" dirty="0"/>
                  <a:t>, </a:t>
                </a:r>
                <a:r>
                  <a:rPr lang="en-IN" sz="2000" dirty="0"/>
                  <a:t>assign an influence score to each node such that nodes with higher scores trigger large-scale information diffusion, </a:t>
                </a:r>
                <a:r>
                  <a:rPr lang="en-IN" sz="2000" b="1" dirty="0"/>
                  <a:t>while effectively incorporating edge weights</a:t>
                </a:r>
                <a:r>
                  <a:rPr lang="en-IN" sz="2000" dirty="0"/>
                  <a:t> and avoiding expensive simulation at inference time.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B727BE-FC1A-CA1D-3F40-270811A76B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5495" y="1451112"/>
                <a:ext cx="11191461" cy="1878498"/>
              </a:xfrm>
              <a:blipFill>
                <a:blip r:embed="rId3"/>
                <a:stretch>
                  <a:fillRect l="-871" t="-4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7558F71-5DB2-A1FA-37E5-5FF1717F0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72ACAF7-B5C1-8D6A-AB1A-495691574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5</a:t>
            </a:fld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7B75C6-9914-60B4-F76C-9EF9DF2160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E2C5B6E-561B-3A67-824B-6BE9475E2C13}"/>
              </a:ext>
            </a:extLst>
          </p:cNvPr>
          <p:cNvSpPr txBox="1">
            <a:spLocks/>
          </p:cNvSpPr>
          <p:nvPr/>
        </p:nvSpPr>
        <p:spPr>
          <a:xfrm>
            <a:off x="735494" y="3528390"/>
            <a:ext cx="11191461" cy="17095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2000" b="1">
                <a:latin typeface="Calibri"/>
              </a:defRPr>
            </a:pPr>
            <a:endParaRPr lang="en-IN" sz="24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68AFD80-A7A2-69A1-2B55-4EF6E9C03996}"/>
              </a:ext>
            </a:extLst>
          </p:cNvPr>
          <p:cNvSpPr txBox="1">
            <a:spLocks/>
          </p:cNvSpPr>
          <p:nvPr/>
        </p:nvSpPr>
        <p:spPr>
          <a:xfrm>
            <a:off x="735494" y="3016476"/>
            <a:ext cx="10721013" cy="2221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 sz="2000" b="1">
                <a:latin typeface="Calibri"/>
              </a:defRPr>
            </a:pPr>
            <a:r>
              <a:rPr lang="en-US" sz="2000" b="1" dirty="0">
                <a:latin typeface="Calibri"/>
              </a:rPr>
              <a:t>Key Objectives:</a:t>
            </a:r>
          </a:p>
          <a:p>
            <a:pPr marL="457200" indent="-457200">
              <a:buFont typeface="+mj-lt"/>
              <a:buAutoNum type="arabicPeriod"/>
              <a:defRPr sz="2000" b="0">
                <a:latin typeface="Calibri"/>
              </a:defRPr>
            </a:pPr>
            <a:r>
              <a:rPr lang="en-US" sz="2000" b="1" dirty="0"/>
              <a:t>Extend influence estimation to weighted networks</a:t>
            </a:r>
            <a:r>
              <a:rPr lang="en-US" sz="2000" dirty="0"/>
              <a:t> by incorporating edge weights into structural representations.</a:t>
            </a:r>
          </a:p>
          <a:p>
            <a:pPr marL="457200" indent="-457200">
              <a:buFont typeface="+mj-lt"/>
              <a:buAutoNum type="arabicPeriod"/>
              <a:defRPr sz="2000" b="0">
                <a:latin typeface="Calibri"/>
              </a:defRPr>
            </a:pPr>
            <a:r>
              <a:rPr lang="en-US" sz="2000" b="1" dirty="0"/>
              <a:t>Implement a learning-based framework (NLGCN)</a:t>
            </a:r>
            <a:r>
              <a:rPr lang="en-US" sz="2000" dirty="0"/>
              <a:t> that captures both </a:t>
            </a:r>
            <a:r>
              <a:rPr lang="en-US" sz="2000" b="1" dirty="0"/>
              <a:t>topological structure and weight information</a:t>
            </a:r>
            <a:r>
              <a:rPr lang="en-US" sz="2000" dirty="0"/>
              <a:t> for accurate influence prediction.</a:t>
            </a:r>
            <a:endParaRPr lang="en-IN" sz="2000" dirty="0"/>
          </a:p>
          <a:p>
            <a:pPr marL="457200" indent="-457200">
              <a:buFont typeface="+mj-lt"/>
              <a:buAutoNum type="arabicPeriod"/>
              <a:defRPr sz="2000" b="0">
                <a:latin typeface="Calibri"/>
              </a:defRPr>
            </a:pPr>
            <a:r>
              <a:rPr lang="en-US" sz="2000" b="1" dirty="0"/>
              <a:t>Approximate diffusion behavior (SIR-based)</a:t>
            </a:r>
            <a:r>
              <a:rPr lang="en-US" sz="2000" dirty="0"/>
              <a:t> through supervised learning to eliminate costly simulations during inference. </a:t>
            </a:r>
          </a:p>
          <a:p>
            <a:pPr marL="457200" indent="-457200">
              <a:buFont typeface="+mj-lt"/>
              <a:buAutoNum type="arabicPeriod"/>
              <a:defRPr sz="2000" b="0">
                <a:latin typeface="Calibri"/>
              </a:defRPr>
            </a:pPr>
            <a:r>
              <a:rPr lang="en-US" sz="2000" b="1" dirty="0"/>
              <a:t>Evaluate performance on graphs</a:t>
            </a:r>
            <a:r>
              <a:rPr lang="en-US" sz="2000" dirty="0"/>
              <a:t> using ranking metrics (e.g., Kendall Tau) and diffusion-based measures.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35176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293" y="136525"/>
            <a:ext cx="10515600" cy="1325563"/>
          </a:xfrm>
        </p:spPr>
        <p:txBody>
          <a:bodyPr/>
          <a:lstStyle/>
          <a:p>
            <a:r>
              <a:rPr lang="en-IN" dirty="0"/>
              <a:t>Methodology — NLGCN Framework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6</a:t>
            </a:fld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A10559F-255A-91F2-1FC4-4905A81205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79910"/>
            <a:ext cx="8047383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2D6B6C-9D29-749B-5440-8F6E8952D60A}"/>
              </a:ext>
            </a:extLst>
          </p:cNvPr>
          <p:cNvSpPr txBox="1"/>
          <p:nvPr/>
        </p:nvSpPr>
        <p:spPr>
          <a:xfrm>
            <a:off x="638595" y="1267254"/>
            <a:ext cx="101628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Three- Stage Pipeline:</a:t>
            </a:r>
            <a:endParaRPr lang="en-IN" sz="2400" b="1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94ABC2-B2EA-6FAA-1173-FC79DE779E3A}"/>
              </a:ext>
            </a:extLst>
          </p:cNvPr>
          <p:cNvSpPr txBox="1"/>
          <p:nvPr/>
        </p:nvSpPr>
        <p:spPr>
          <a:xfrm>
            <a:off x="1054881" y="1929333"/>
            <a:ext cx="97378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>
                <a:latin typeface="Calibri"/>
              </a:defRPr>
            </a:pPr>
            <a:r>
              <a:rPr lang="en-IN" sz="2000" dirty="0"/>
              <a:t>Stage A: Node Feature Extraction</a:t>
            </a:r>
          </a:p>
          <a:p>
            <a:pPr>
              <a:defRPr sz="2000" b="0">
                <a:latin typeface="Calibri"/>
              </a:defRPr>
            </a:pPr>
            <a:r>
              <a:rPr lang="en-IN" sz="2000" dirty="0"/>
              <a:t>  •  Compute NLI (Node Local Influence) and NGI (Node Global Influence)</a:t>
            </a:r>
          </a:p>
          <a:p>
            <a:pPr>
              <a:defRPr sz="2000" b="0">
                <a:latin typeface="Calibri"/>
              </a:defRPr>
            </a:pPr>
            <a:r>
              <a:rPr lang="en-IN" sz="2000" dirty="0"/>
              <a:t>  •  Multi-scale aggregation at 3 orders (L = 0, 1, 2)</a:t>
            </a:r>
          </a:p>
          <a:p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3BA341-AD26-C1D3-A814-483ADB1742CD}"/>
              </a:ext>
            </a:extLst>
          </p:cNvPr>
          <p:cNvSpPr txBox="1"/>
          <p:nvPr/>
        </p:nvSpPr>
        <p:spPr>
          <a:xfrm>
            <a:off x="1031164" y="3136647"/>
            <a:ext cx="97378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>
                <a:latin typeface="Calibri"/>
              </a:defRPr>
            </a:pPr>
            <a:r>
              <a:rPr lang="en-IN" sz="2000" dirty="0"/>
              <a:t>Stage B: </a:t>
            </a:r>
            <a:r>
              <a:rPr lang="en-US" dirty="0"/>
              <a:t>Structural Channel Construction</a:t>
            </a:r>
          </a:p>
          <a:p>
            <a:pPr>
              <a:defRPr sz="2000" b="0">
                <a:latin typeface="Calibri"/>
              </a:defRPr>
            </a:pPr>
            <a:r>
              <a:rPr lang="en-US" dirty="0"/>
              <a:t>  •  6 structural channels embedded into </a:t>
            </a:r>
            <a:r>
              <a:rPr lang="en-US" dirty="0" err="1"/>
              <a:t>neighbourhood</a:t>
            </a:r>
            <a:r>
              <a:rPr lang="en-US" dirty="0"/>
              <a:t> matrices</a:t>
            </a:r>
          </a:p>
          <a:p>
            <a:pPr>
              <a:defRPr sz="2000" b="0">
                <a:latin typeface="Calibri"/>
              </a:defRPr>
            </a:pPr>
            <a:r>
              <a:rPr lang="en-US" dirty="0"/>
              <a:t>  •  Channel tensor: 6 × (L+1) × (L+1)</a:t>
            </a:r>
          </a:p>
          <a:p>
            <a:endParaRPr lang="en-IN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01CFDF-7973-019E-0414-AE806E692034}"/>
              </a:ext>
            </a:extLst>
          </p:cNvPr>
          <p:cNvSpPr txBox="1"/>
          <p:nvPr/>
        </p:nvSpPr>
        <p:spPr>
          <a:xfrm>
            <a:off x="1063567" y="4349524"/>
            <a:ext cx="97378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>
                <a:latin typeface="Calibri"/>
              </a:defRPr>
            </a:pPr>
            <a:r>
              <a:rPr lang="en-IN" sz="2000" dirty="0"/>
              <a:t>Stage C: </a:t>
            </a:r>
            <a:r>
              <a:rPr lang="en-IN" dirty="0"/>
              <a:t>Model Prediction</a:t>
            </a:r>
          </a:p>
          <a:p>
            <a:pPr>
              <a:defRPr sz="2000" b="0">
                <a:latin typeface="Calibri"/>
              </a:defRPr>
            </a:pPr>
            <a:r>
              <a:rPr lang="en-IN" dirty="0"/>
              <a:t>  •  Channel attention mechanism (Squeeze-Excitation)</a:t>
            </a:r>
          </a:p>
          <a:p>
            <a:pPr>
              <a:defRPr sz="2000" b="0">
                <a:latin typeface="Calibri"/>
              </a:defRPr>
            </a:pPr>
            <a:r>
              <a:rPr lang="en-IN" dirty="0"/>
              <a:t>  •  Conv2D layers → FC layers → scalar influence score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5549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24E63-4FA1-83A9-67A5-0A4A0257C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667E8-D634-9DC7-5FB7-F35DCDA81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244" y="136525"/>
            <a:ext cx="10515600" cy="1325563"/>
          </a:xfrm>
        </p:spPr>
        <p:txBody>
          <a:bodyPr/>
          <a:lstStyle/>
          <a:p>
            <a:r>
              <a:rPr lang="en-IN" dirty="0"/>
              <a:t>NLGCN Framework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2620B7-DFDC-B4FE-E8C0-58E55D3EB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8A84577-3233-AC98-1EDF-E1A8C9587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7</a:t>
            </a:fld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D06952-AF05-7030-95B0-89F8E722BD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397A60-2A95-898C-33F3-C7D2800691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578" y="1201914"/>
            <a:ext cx="10353161" cy="458219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797D4-FBF6-EF69-63C7-6FF8E68E007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635851" y="5913263"/>
            <a:ext cx="7082735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Basic Framework of </a:t>
            </a:r>
            <a:r>
              <a:rPr lang="en-US" sz="1600" dirty="0"/>
              <a:t>Neighborhood Local Graph Convolutional Network</a:t>
            </a:r>
            <a:r>
              <a:rPr lang="en-IN" sz="1600" dirty="0"/>
              <a:t> </a:t>
            </a:r>
            <a:r>
              <a:rPr lang="en-US" sz="1600" dirty="0"/>
              <a:t>[3].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603961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6649A-DF47-6AA7-CF10-4C82555CD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26F35-2145-DB6F-A2D6-0D345CCC5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244" y="136525"/>
            <a:ext cx="10515600" cy="1325563"/>
          </a:xfrm>
        </p:spPr>
        <p:txBody>
          <a:bodyPr/>
          <a:lstStyle/>
          <a:p>
            <a:r>
              <a:rPr lang="en-IN" dirty="0"/>
              <a:t>Structural Features — NLI &amp; NGI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C7CDB07-2DE1-FA27-5348-2DFB54514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384582-4978-DDBB-FB68-E5FBD8949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8</a:t>
            </a:fld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15D861-738D-4E0E-29C7-D503CCAE19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68E2BE-CB76-47AD-E602-0C97CB131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487" y="1462088"/>
            <a:ext cx="7928113" cy="2299115"/>
          </a:xfrm>
        </p:spPr>
        <p:txBody>
          <a:bodyPr>
            <a:normAutofit/>
          </a:bodyPr>
          <a:lstStyle/>
          <a:p>
            <a:r>
              <a:rPr lang="en-US" dirty="0"/>
              <a:t>Node Local Influence (NLI): </a:t>
            </a:r>
          </a:p>
          <a:p>
            <a:endParaRPr lang="en-US" dirty="0"/>
          </a:p>
          <a:p>
            <a:pPr marL="0" indent="0">
              <a:buNone/>
              <a:defRPr sz="1800" b="0">
                <a:latin typeface="Calibri"/>
              </a:defRPr>
            </a:pPr>
            <a:r>
              <a:rPr lang="en-US" dirty="0"/>
              <a:t>     </a:t>
            </a:r>
          </a:p>
          <a:p>
            <a:pPr marL="0" indent="0">
              <a:buNone/>
              <a:defRPr sz="1800" b="0">
                <a:latin typeface="Calibri"/>
              </a:defRPr>
            </a:pPr>
            <a:r>
              <a:rPr lang="en-US" dirty="0"/>
              <a:t>     •  Captures importance based on immediate </a:t>
            </a:r>
            <a:r>
              <a:rPr lang="en-US" dirty="0" err="1"/>
              <a:t>neighbourhood</a:t>
            </a:r>
            <a:r>
              <a:rPr lang="en-US" dirty="0"/>
              <a:t> structure</a:t>
            </a:r>
          </a:p>
          <a:p>
            <a:pPr marL="0" indent="0">
              <a:buNone/>
              <a:defRPr sz="1800" b="0">
                <a:latin typeface="Calibri"/>
              </a:defRPr>
            </a:pPr>
            <a:r>
              <a:rPr lang="en-US" dirty="0"/>
              <a:t>     •  Exponential amplifies influential </a:t>
            </a:r>
            <a:r>
              <a:rPr lang="en-US" dirty="0" err="1"/>
              <a:t>neighbours</a:t>
            </a:r>
            <a:r>
              <a:rPr lang="en-US" dirty="0"/>
              <a:t> and log prevents extreme values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9C19B1-8EA2-355B-35D1-090FA931D0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8026" y="1976294"/>
            <a:ext cx="3158517" cy="779193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9C6B752D-DA0E-09F4-0CE3-908FBB8AB436}"/>
              </a:ext>
            </a:extLst>
          </p:cNvPr>
          <p:cNvSpPr txBox="1">
            <a:spLocks/>
          </p:cNvSpPr>
          <p:nvPr/>
        </p:nvSpPr>
        <p:spPr>
          <a:xfrm>
            <a:off x="682487" y="3905044"/>
            <a:ext cx="7928113" cy="2299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Node Global Influence (NGI): </a:t>
            </a:r>
          </a:p>
          <a:p>
            <a:endParaRPr lang="en-US" dirty="0"/>
          </a:p>
          <a:p>
            <a:pPr marL="0" indent="0">
              <a:buFont typeface="Arial" panose="020B0604020202020204" pitchFamily="34" charset="0"/>
              <a:buNone/>
              <a:defRPr sz="1800" b="0">
                <a:latin typeface="Calibri"/>
              </a:defRPr>
            </a:pPr>
            <a:r>
              <a:rPr lang="en-US" sz="1800" dirty="0">
                <a:latin typeface="Calibri"/>
              </a:rPr>
              <a:t>     </a:t>
            </a:r>
          </a:p>
          <a:p>
            <a:pPr marL="0" indent="0">
              <a:buNone/>
              <a:defRPr sz="1800" b="0">
                <a:latin typeface="Calibri"/>
              </a:defRPr>
            </a:pPr>
            <a:r>
              <a:rPr lang="en-US" sz="1800" dirty="0">
                <a:latin typeface="Calibri"/>
              </a:rPr>
              <a:t>    •  </a:t>
            </a:r>
            <a:r>
              <a:rPr lang="en-US" dirty="0"/>
              <a:t>Captures influence across the entire network via shortest path distances</a:t>
            </a:r>
          </a:p>
          <a:p>
            <a:pPr marL="0" indent="0">
              <a:buNone/>
              <a:defRPr sz="1800" b="0">
                <a:latin typeface="Calibri"/>
              </a:defRPr>
            </a:pPr>
            <a:r>
              <a:rPr lang="en-US" sz="1800" dirty="0">
                <a:latin typeface="Calibri"/>
              </a:rPr>
              <a:t>    •  </a:t>
            </a:r>
            <a:r>
              <a:rPr lang="en-US" dirty="0"/>
              <a:t>Closer nodes contribute more and square root slows decay for distant nodes</a:t>
            </a:r>
          </a:p>
          <a:p>
            <a:pPr marL="0" indent="0">
              <a:buFont typeface="Arial" panose="020B0604020202020204" pitchFamily="34" charset="0"/>
              <a:buNone/>
              <a:defRPr sz="1800" b="0">
                <a:latin typeface="Calibri"/>
              </a:defRPr>
            </a:pPr>
            <a:endParaRPr lang="en-US" sz="1800" dirty="0">
              <a:latin typeface="Calibri"/>
            </a:endParaRPr>
          </a:p>
          <a:p>
            <a:endParaRPr lang="en-US" dirty="0"/>
          </a:p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B674AD1-B6AB-92DB-45D8-3C37F6B99B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8026" y="4380963"/>
            <a:ext cx="2550574" cy="882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532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7A08C-9478-E5B9-E811-0936F92AE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3E69D-47A1-B402-EB64-CAC0935AB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244" y="136525"/>
            <a:ext cx="10515600" cy="1325563"/>
          </a:xfrm>
        </p:spPr>
        <p:txBody>
          <a:bodyPr/>
          <a:lstStyle/>
          <a:p>
            <a:r>
              <a:rPr lang="en-IN" dirty="0"/>
              <a:t>Structural Features — NLI &amp; NGI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BBCE9C-C36B-8DF0-B82E-A5C63C86A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C5E05B-A4C6-3906-2789-D9A6185CA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9</a:t>
            </a:fld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D440C6-86F6-78E5-F67C-66734E9508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094318-31DC-5BDF-E4EC-540BDE4E9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487" y="1462088"/>
            <a:ext cx="7928113" cy="2299115"/>
          </a:xfrm>
        </p:spPr>
        <p:txBody>
          <a:bodyPr>
            <a:normAutofit/>
          </a:bodyPr>
          <a:lstStyle/>
          <a:p>
            <a:r>
              <a:rPr lang="en-US" dirty="0"/>
              <a:t>Multi-Scale Aggregation (for both NLI and NGI):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  <a:defRPr sz="1800" b="0">
                <a:latin typeface="Calibri"/>
              </a:defRPr>
            </a:pPr>
            <a:r>
              <a:rPr lang="en-US" dirty="0"/>
              <a:t>     </a:t>
            </a:r>
          </a:p>
          <a:p>
            <a:pPr marL="0" indent="0">
              <a:buNone/>
              <a:defRPr sz="1800" b="0">
                <a:latin typeface="Calibri"/>
              </a:defRPr>
            </a:pPr>
            <a:r>
              <a:rPr lang="en-US" dirty="0"/>
              <a:t>    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93879D-B6C2-3894-5F7C-A9423DB2B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212" y="2223052"/>
            <a:ext cx="4412245" cy="23707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8C191D-979D-2901-B986-C98A893D51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4585" y="2220872"/>
            <a:ext cx="3267185" cy="9809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17BBB6E-424E-9E55-C762-0FEC0CED13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079319"/>
            <a:ext cx="3267186" cy="165979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1AF85E6-8C03-152A-9E09-75F1DA7E0C0B}"/>
              </a:ext>
            </a:extLst>
          </p:cNvPr>
          <p:cNvSpPr txBox="1"/>
          <p:nvPr/>
        </p:nvSpPr>
        <p:spPr>
          <a:xfrm>
            <a:off x="833212" y="4873682"/>
            <a:ext cx="6097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 b="0">
                <a:latin typeface="Calibri"/>
              </a:defRPr>
            </a:pPr>
            <a:r>
              <a:rPr lang="en-IN" dirty="0"/>
              <a:t>Base feature value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 b="0">
                <a:latin typeface="Calibri"/>
              </a:defRPr>
            </a:pPr>
            <a:r>
              <a:rPr lang="en-IN" dirty="0"/>
              <a:t>1-hop aggregation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 b="0">
                <a:latin typeface="Calibri"/>
              </a:defRPr>
            </a:pPr>
            <a:r>
              <a:rPr lang="en-IN" dirty="0"/>
              <a:t>2-hop aggregation</a:t>
            </a:r>
          </a:p>
        </p:txBody>
      </p:sp>
    </p:spTree>
    <p:extLst>
      <p:ext uri="{BB962C8B-B14F-4D97-AF65-F5344CB8AC3E}">
        <p14:creationId xmlns:p14="http://schemas.microsoft.com/office/powerpoint/2010/main" val="3372206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269" y="282701"/>
            <a:ext cx="10515600" cy="1325563"/>
          </a:xfrm>
        </p:spPr>
        <p:txBody>
          <a:bodyPr/>
          <a:lstStyle/>
          <a:p>
            <a:r>
              <a:rPr lang="en-IN" dirty="0"/>
              <a:t>NLGCN Model Architecture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10</a:t>
            </a:fld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8149F2-40DE-E117-7EF5-0041F68FE1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 bwMode="auto">
          <a:xfrm>
            <a:off x="1503527" y="1439549"/>
            <a:ext cx="8080318" cy="1695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98B600-0658-9E9E-A02D-17D1FD94C558}"/>
              </a:ext>
            </a:extLst>
          </p:cNvPr>
          <p:cNvSpPr txBox="1"/>
          <p:nvPr/>
        </p:nvSpPr>
        <p:spPr>
          <a:xfrm>
            <a:off x="873330" y="3140110"/>
            <a:ext cx="9340713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 b="0">
                <a:latin typeface="Calibri"/>
              </a:defRPr>
            </a:pPr>
            <a:r>
              <a:rPr lang="en-IN" dirty="0"/>
              <a:t>Input Tensor: 6 × (L+1) × (L+1)  —  6 structural channels stacked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 b="0">
                <a:latin typeface="Calibri"/>
              </a:defRPr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  <a:defRPr sz="1800" b="0">
                <a:latin typeface="Calibri"/>
              </a:defRPr>
            </a:pPr>
            <a:r>
              <a:rPr lang="en-IN" dirty="0"/>
              <a:t>Channel Attention: Squeeze-Excitation mechanism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 b="0">
                <a:latin typeface="Calibri"/>
              </a:defRPr>
            </a:pPr>
            <a:endParaRPr lang="en-IN" sz="1000" dirty="0"/>
          </a:p>
          <a:p>
            <a:pPr>
              <a:defRPr sz="1800" b="0">
                <a:latin typeface="Calibri"/>
              </a:defRPr>
            </a:pPr>
            <a:r>
              <a:rPr lang="en-IN" dirty="0"/>
              <a:t>        •  Dynamically weights channels, important channels get higher attention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 b="0">
                <a:latin typeface="Calibri"/>
              </a:defRPr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  <a:defRPr sz="1800" b="0">
                <a:latin typeface="Calibri"/>
              </a:defRPr>
            </a:pPr>
            <a:r>
              <a:rPr lang="en-IN" dirty="0"/>
              <a:t>Conv Layer: Conv2d (6 → 16, </a:t>
            </a:r>
            <a:r>
              <a:rPr lang="en-IN" dirty="0" err="1"/>
              <a:t>kernel_size</a:t>
            </a:r>
            <a:r>
              <a:rPr lang="en-IN" dirty="0"/>
              <a:t>=2) + BatchNorm2d + </a:t>
            </a:r>
            <a:r>
              <a:rPr lang="en-IN" dirty="0" err="1"/>
              <a:t>ReLU</a:t>
            </a:r>
            <a:r>
              <a:rPr lang="en-IN" dirty="0"/>
              <a:t> + MaxPool2d (2)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 b="0">
                <a:latin typeface="Calibri"/>
              </a:defRPr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  <a:defRPr sz="1800" b="0">
                <a:latin typeface="Calibri"/>
              </a:defRPr>
            </a:pPr>
            <a:r>
              <a:rPr lang="en-IN" dirty="0"/>
              <a:t>FC Layers: Linear(16×20×20 → 8) + </a:t>
            </a:r>
            <a:r>
              <a:rPr lang="en-IN" dirty="0" err="1"/>
              <a:t>ReLU</a:t>
            </a:r>
            <a:r>
              <a:rPr lang="en-IN" dirty="0"/>
              <a:t> → Linear(8 → 1)</a:t>
            </a:r>
          </a:p>
          <a:p>
            <a:pPr>
              <a:defRPr sz="1800" b="0">
                <a:latin typeface="Calibri"/>
              </a:defRPr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  <a:defRPr sz="1800" b="0">
                <a:latin typeface="Calibri"/>
              </a:defRPr>
            </a:pPr>
            <a:r>
              <a:rPr lang="en-IN" dirty="0"/>
              <a:t>Final output: single scalar influence score per node</a:t>
            </a:r>
          </a:p>
          <a:p>
            <a:pPr>
              <a:defRPr sz="1800" b="0">
                <a:latin typeface="Calibri"/>
              </a:defRPr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5158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9006"/>
            <a:ext cx="8842513" cy="738671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2400" dirty="0"/>
              <a:t>Four real-world networks spanning different domains and scales:</a:t>
            </a:r>
          </a:p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11</a:t>
            </a:fld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E0DE8C-2E5F-618C-5F92-B57AEC1102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473276"/>
              </p:ext>
            </p:extLst>
          </p:nvPr>
        </p:nvGraphicFramePr>
        <p:xfrm>
          <a:off x="1136374" y="2139715"/>
          <a:ext cx="8842515" cy="2702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9663">
                  <a:extLst>
                    <a:ext uri="{9D8B030D-6E8A-4147-A177-3AD203B41FA5}">
                      <a16:colId xmlns:a16="http://schemas.microsoft.com/office/drawing/2014/main" val="800636752"/>
                    </a:ext>
                  </a:extLst>
                </a:gridCol>
                <a:gridCol w="1004831">
                  <a:extLst>
                    <a:ext uri="{9D8B030D-6E8A-4147-A177-3AD203B41FA5}">
                      <a16:colId xmlns:a16="http://schemas.microsoft.com/office/drawing/2014/main" val="3785479414"/>
                    </a:ext>
                  </a:extLst>
                </a:gridCol>
                <a:gridCol w="1004831">
                  <a:extLst>
                    <a:ext uri="{9D8B030D-6E8A-4147-A177-3AD203B41FA5}">
                      <a16:colId xmlns:a16="http://schemas.microsoft.com/office/drawing/2014/main" val="2093482325"/>
                    </a:ext>
                  </a:extLst>
                </a:gridCol>
                <a:gridCol w="1306281">
                  <a:extLst>
                    <a:ext uri="{9D8B030D-6E8A-4147-A177-3AD203B41FA5}">
                      <a16:colId xmlns:a16="http://schemas.microsoft.com/office/drawing/2014/main" val="4198608557"/>
                    </a:ext>
                  </a:extLst>
                </a:gridCol>
                <a:gridCol w="3516909">
                  <a:extLst>
                    <a:ext uri="{9D8B030D-6E8A-4147-A177-3AD203B41FA5}">
                      <a16:colId xmlns:a16="http://schemas.microsoft.com/office/drawing/2014/main" val="1847207699"/>
                    </a:ext>
                  </a:extLst>
                </a:gridCol>
              </a:tblGrid>
              <a:tr h="515714"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rPr sz="1800" dirty="0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rPr sz="1800"/>
                        <a:t>Nodes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rPr sz="1800"/>
                        <a:t>Edges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rPr sz="1800"/>
                        <a:t>Avg. Degree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rPr sz="1800"/>
                        <a:t>Network 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1398569"/>
                  </a:ext>
                </a:extLst>
              </a:tr>
              <a:tr h="515714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 dirty="0"/>
                        <a:t>C. elegans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 dirty="0"/>
                        <a:t>297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/>
                        <a:t>2,148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/>
                        <a:t>14.46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/>
                        <a:t>Biological neural network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7248320"/>
                  </a:ext>
                </a:extLst>
              </a:tr>
              <a:tr h="515714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/>
                        <a:t>Budapest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/>
                        <a:t>480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 dirty="0"/>
                        <a:t>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 dirty="0"/>
                        <a:t>4.17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/>
                        <a:t>Transportation network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9209817"/>
                  </a:ext>
                </a:extLst>
              </a:tr>
              <a:tr h="515714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/>
                        <a:t>US Airports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 dirty="0"/>
                        <a:t>2,980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 dirty="0"/>
                        <a:t>11.92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 dirty="0"/>
                        <a:t>Airport route network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4935562"/>
                  </a:ext>
                </a:extLst>
              </a:tr>
              <a:tr h="515714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/>
                        <a:t>CargoShipsBB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/>
                        <a:t>834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/>
                        <a:t>4,349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/>
                        <a:t>10.43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 dirty="0"/>
                        <a:t>Cargo shipping network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15946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5412DBA-4EAC-CCC2-6724-5DD35052DE1B}"/>
              </a:ext>
            </a:extLst>
          </p:cNvPr>
          <p:cNvSpPr txBox="1"/>
          <p:nvPr/>
        </p:nvSpPr>
        <p:spPr>
          <a:xfrm>
            <a:off x="1136374" y="5017063"/>
            <a:ext cx="49596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latin typeface="Calibri"/>
              </a:defRPr>
            </a:pPr>
            <a:r>
              <a:rPr lang="en-US" dirty="0"/>
              <a:t>All datasets: unweighted, undirected graphs.</a:t>
            </a:r>
            <a:br>
              <a:rPr lang="en-US" dirty="0"/>
            </a:br>
            <a:r>
              <a:rPr lang="en-US" dirty="0"/>
              <a:t>Budapest: 11 self-loops removed during preprocessing.</a:t>
            </a:r>
            <a:br>
              <a:rPr lang="en-US" dirty="0"/>
            </a:br>
            <a:r>
              <a:rPr lang="en-US" dirty="0"/>
              <a:t>Average degree computed as 2 × |E| / |V|.</a:t>
            </a:r>
          </a:p>
        </p:txBody>
      </p:sp>
    </p:spTree>
    <p:extLst>
      <p:ext uri="{BB962C8B-B14F-4D97-AF65-F5344CB8AC3E}">
        <p14:creationId xmlns:p14="http://schemas.microsoft.com/office/powerpoint/2010/main" val="3347340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2A229-7582-2606-6EA2-541F20E4F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400F3-1F3C-CF74-4DF9-D8138B87D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683487" cy="1266300"/>
          </a:xfrm>
        </p:spPr>
        <p:txBody>
          <a:bodyPr/>
          <a:lstStyle/>
          <a:p>
            <a:r>
              <a:rPr lang="en-IN" dirty="0"/>
              <a:t>Results — Kendall Tau 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4123B-3E77-5D09-A9F2-53F92049A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9006"/>
            <a:ext cx="8842513" cy="738671"/>
          </a:xfrm>
        </p:spPr>
        <p:txBody>
          <a:bodyPr>
            <a:normAutofit/>
          </a:bodyPr>
          <a:lstStyle/>
          <a:p>
            <a:pPr>
              <a:defRPr sz="2000" b="1"/>
            </a:pPr>
            <a:r>
              <a:rPr lang="en-US" sz="2400" dirty="0"/>
              <a:t>NLGCN vs. Baseline Centrality Methods: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783900F-868E-9A79-8FA9-AAAF3B7B2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F46233-09E1-23BB-EF93-C8C58B2CB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12</a:t>
            </a:fld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F2DCAF-2B14-FD3C-02FE-59CC267639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FFA66A-9447-CDEE-FA78-E2FA3742D62E}"/>
              </a:ext>
            </a:extLst>
          </p:cNvPr>
          <p:cNvSpPr txBox="1"/>
          <p:nvPr/>
        </p:nvSpPr>
        <p:spPr>
          <a:xfrm>
            <a:off x="1136374" y="4781762"/>
            <a:ext cx="93593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Calibri"/>
              </a:defRPr>
            </a:pPr>
            <a:r>
              <a:rPr lang="en-IN" dirty="0"/>
              <a:t>Key Findings:</a:t>
            </a:r>
            <a:br>
              <a:rPr lang="en-IN" dirty="0"/>
            </a:br>
            <a:r>
              <a:rPr lang="en-IN" dirty="0"/>
              <a:t>  ✓  NLGCN achieves highest Kendall Tau on all 4 datasets (0.8944 – 0.9627)</a:t>
            </a:r>
            <a:br>
              <a:rPr lang="en-IN" dirty="0"/>
            </a:br>
            <a:r>
              <a:rPr lang="en-IN" dirty="0"/>
              <a:t>  ✓  K-Shell is strongest baseline (0.6277–0.8246), Betweenness weakest</a:t>
            </a:r>
            <a:br>
              <a:rPr lang="en-IN" dirty="0"/>
            </a:br>
            <a:r>
              <a:rPr lang="en-IN" dirty="0"/>
              <a:t>  ✓  Largest improvement on Budapest (+46% over K-Shell) — sparse networks benefit most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60E40B7-ACED-B476-B953-9A597BAF9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311249"/>
              </p:ext>
            </p:extLst>
          </p:nvPr>
        </p:nvGraphicFramePr>
        <p:xfrm>
          <a:off x="1136374" y="2238695"/>
          <a:ext cx="9359350" cy="2380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4678">
                  <a:extLst>
                    <a:ext uri="{9D8B030D-6E8A-4147-A177-3AD203B41FA5}">
                      <a16:colId xmlns:a16="http://schemas.microsoft.com/office/drawing/2014/main" val="3926362831"/>
                    </a:ext>
                  </a:extLst>
                </a:gridCol>
                <a:gridCol w="1610211">
                  <a:extLst>
                    <a:ext uri="{9D8B030D-6E8A-4147-A177-3AD203B41FA5}">
                      <a16:colId xmlns:a16="http://schemas.microsoft.com/office/drawing/2014/main" val="3725697311"/>
                    </a:ext>
                  </a:extLst>
                </a:gridCol>
                <a:gridCol w="1610211">
                  <a:extLst>
                    <a:ext uri="{9D8B030D-6E8A-4147-A177-3AD203B41FA5}">
                      <a16:colId xmlns:a16="http://schemas.microsoft.com/office/drawing/2014/main" val="3219363299"/>
                    </a:ext>
                  </a:extLst>
                </a:gridCol>
                <a:gridCol w="1811487">
                  <a:extLst>
                    <a:ext uri="{9D8B030D-6E8A-4147-A177-3AD203B41FA5}">
                      <a16:colId xmlns:a16="http://schemas.microsoft.com/office/drawing/2014/main" val="3312406910"/>
                    </a:ext>
                  </a:extLst>
                </a:gridCol>
                <a:gridCol w="2012763">
                  <a:extLst>
                    <a:ext uri="{9D8B030D-6E8A-4147-A177-3AD203B41FA5}">
                      <a16:colId xmlns:a16="http://schemas.microsoft.com/office/drawing/2014/main" val="1099358014"/>
                    </a:ext>
                  </a:extLst>
                </a:gridCol>
              </a:tblGrid>
              <a:tr h="476122"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rPr sz="1800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rPr sz="1800"/>
                        <a:t>C. elegans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rPr sz="1800"/>
                        <a:t>Budapest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rPr sz="1800"/>
                        <a:t>US Airports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rPr sz="1800"/>
                        <a:t>CargoShipsBB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7562922"/>
                  </a:ext>
                </a:extLst>
              </a:tr>
              <a:tr h="476122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 dirty="0"/>
                        <a:t>Degree Centrality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 dirty="0"/>
                        <a:t>0.7472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 dirty="0"/>
                        <a:t>0.5537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/>
                        <a:t>0.6503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/>
                        <a:t>0.7874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4691547"/>
                  </a:ext>
                </a:extLst>
              </a:tr>
              <a:tr h="476122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/>
                        <a:t>K-Shell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/>
                        <a:t>0.7683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 dirty="0"/>
                        <a:t>0.6277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 dirty="0"/>
                        <a:t>0.6898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/>
                        <a:t>0.8246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2506659"/>
                  </a:ext>
                </a:extLst>
              </a:tr>
              <a:tr h="476122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/>
                        <a:t>Betweenness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/>
                        <a:t>0.5723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/>
                        <a:t>0.2729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 dirty="0"/>
                        <a:t>0.3592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 dirty="0"/>
                        <a:t>0.5957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3606027"/>
                  </a:ext>
                </a:extLst>
              </a:tr>
              <a:tr h="476122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 b="1" dirty="0"/>
                        <a:t>NLGCN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 b="1" dirty="0"/>
                        <a:t>0.9627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 b="1" dirty="0"/>
                        <a:t>0.9164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 b="1" dirty="0"/>
                        <a:t>0.8944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1800" b="1" dirty="0"/>
                        <a:t>0.9237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0159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9832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041" y="414502"/>
            <a:ext cx="8872768" cy="1092380"/>
          </a:xfrm>
        </p:spPr>
        <p:txBody>
          <a:bodyPr/>
          <a:lstStyle/>
          <a:p>
            <a:r>
              <a:rPr lang="en-IN" dirty="0"/>
              <a:t>Top-10 Influential Node Identification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13</a:t>
            </a:fld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32F692B-35D8-7655-75E9-155CF40CAB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695651"/>
            <a:ext cx="10515600" cy="4797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 sz="1800" b="0">
                <a:latin typeface="Calibri"/>
              </a:defRPr>
            </a:pPr>
            <a:r>
              <a:rPr lang="en-US" b="1" dirty="0"/>
              <a:t>NLGCN correctly identifies the exact same top-10 most influential nodes as the SIR ground truth on every dataset evaluated.</a:t>
            </a:r>
          </a:p>
          <a:p>
            <a:pPr>
              <a:defRPr sz="1800" b="0">
                <a:latin typeface="Calibri"/>
              </a:defRPr>
            </a:pPr>
            <a:endParaRPr lang="en-US" b="1" dirty="0"/>
          </a:p>
          <a:p>
            <a:pPr>
              <a:defRPr sz="1800" b="0">
                <a:latin typeface="Calibri"/>
              </a:defRPr>
            </a:pPr>
            <a:r>
              <a:rPr lang="en-US" i="1" dirty="0"/>
              <a:t>C. elegans:       [2, 44, 12, 84, 86, 118, 117, 4, 172, 125]     — 10/10 </a:t>
            </a:r>
          </a:p>
          <a:p>
            <a:pPr>
              <a:defRPr sz="1800" b="0">
                <a:latin typeface="Calibri"/>
              </a:defRPr>
            </a:pPr>
            <a:r>
              <a:rPr lang="en-US" i="1" dirty="0"/>
              <a:t>Budapest:         [7, 21, 1, 23, 65, 83, 35, 13, 6, 151]           — 10/10 </a:t>
            </a:r>
          </a:p>
          <a:p>
            <a:pPr>
              <a:defRPr sz="1800" b="0">
                <a:latin typeface="Calibri"/>
              </a:defRPr>
            </a:pPr>
            <a:r>
              <a:rPr lang="en-US" i="1" dirty="0"/>
              <a:t>US Airports:      [0, 100, 93, 31, 37, 40, 36, 62, 108, 110]     — 10/10 </a:t>
            </a:r>
          </a:p>
          <a:p>
            <a:pPr>
              <a:defRPr sz="1800" b="0">
                <a:latin typeface="Calibri"/>
              </a:defRPr>
            </a:pPr>
            <a:r>
              <a:rPr lang="en-US" i="1" dirty="0" err="1"/>
              <a:t>CargoShipsBB</a:t>
            </a:r>
            <a:r>
              <a:rPr lang="en-US" i="1" dirty="0"/>
              <a:t>:  [63, 53, 187, 40, 122, 116, 76, 303, 117, 49]  — 10/10 </a:t>
            </a:r>
          </a:p>
          <a:p>
            <a:pPr>
              <a:defRPr sz="1800" b="0">
                <a:latin typeface="Calibri"/>
              </a:defRPr>
            </a:pPr>
            <a:endParaRPr lang="en-US" dirty="0"/>
          </a:p>
          <a:p>
            <a:pPr>
              <a:defRPr sz="1800" b="0">
                <a:latin typeface="Calibri"/>
              </a:defRPr>
            </a:pPr>
            <a:r>
              <a:rPr lang="en-US" dirty="0" err="1"/>
              <a:t>CargoShipsBB</a:t>
            </a:r>
            <a:r>
              <a:rPr lang="en-US" dirty="0"/>
              <a:t> has a minor reorder at ranks 3–4 (187 ↔ 40) but the exact same set of nodes is identified.</a:t>
            </a:r>
          </a:p>
          <a:p>
            <a:pPr>
              <a:defRPr sz="1800" b="0">
                <a:latin typeface="Calibri"/>
              </a:defRPr>
            </a:pPr>
            <a:endParaRPr lang="en-US" dirty="0"/>
          </a:p>
          <a:p>
            <a:pPr>
              <a:defRPr sz="1800" b="0">
                <a:latin typeface="Calibri"/>
              </a:defRPr>
            </a:pPr>
            <a:r>
              <a:rPr lang="en-US" dirty="0"/>
              <a:t>This demonstrates practical utility — NLGCN can replace expensive SIR simulation at inference time with a single forward pass.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388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041" y="405353"/>
            <a:ext cx="7981559" cy="1080260"/>
          </a:xfrm>
        </p:spPr>
        <p:txBody>
          <a:bodyPr>
            <a:normAutofit fontScale="90000"/>
          </a:bodyPr>
          <a:lstStyle/>
          <a:p>
            <a:r>
              <a:rPr lang="en-IN" sz="4000" b="1" dirty="0"/>
              <a:t>Discussion — Why NLGCN Outperforms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8250" y="1618027"/>
            <a:ext cx="11178646" cy="473832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defRPr sz="2000" b="1">
                <a:latin typeface="Calibri"/>
              </a:defRPr>
            </a:pPr>
            <a:r>
              <a:rPr lang="en-IN" dirty="0"/>
              <a:t>1. Multi-Scale Representation</a:t>
            </a:r>
          </a:p>
          <a:p>
            <a:pPr marL="0" indent="0">
              <a:buNone/>
              <a:defRPr sz="2000" b="0">
                <a:latin typeface="Calibri"/>
              </a:defRPr>
            </a:pPr>
            <a:r>
              <a:rPr lang="en-IN" dirty="0"/>
              <a:t>  •  6 structural channels (NLI + NGI × 3 orders) encode both local &amp; global properties</a:t>
            </a:r>
          </a:p>
          <a:p>
            <a:pPr marL="0" indent="0">
              <a:buNone/>
              <a:defRPr sz="2000" b="0">
                <a:latin typeface="Calibri"/>
              </a:defRPr>
            </a:pPr>
            <a:r>
              <a:rPr lang="en-IN" dirty="0"/>
              <a:t>  •  Richer than any single centrality measure</a:t>
            </a:r>
          </a:p>
          <a:p>
            <a:pPr marL="0" indent="0">
              <a:buNone/>
              <a:defRPr sz="2000" b="0">
                <a:latin typeface="Calibri"/>
              </a:defRPr>
            </a:pPr>
            <a:endParaRPr lang="en-IN" dirty="0"/>
          </a:p>
          <a:p>
            <a:pPr marL="0" indent="0">
              <a:buNone/>
              <a:defRPr sz="2000" b="1">
                <a:latin typeface="Calibri"/>
              </a:defRPr>
            </a:pPr>
            <a:r>
              <a:rPr lang="en-IN" dirty="0"/>
              <a:t>2. Channel Attention Mechanism</a:t>
            </a:r>
          </a:p>
          <a:p>
            <a:pPr marL="0" indent="0">
              <a:buNone/>
              <a:defRPr sz="2000" b="0">
                <a:latin typeface="Calibri"/>
              </a:defRPr>
            </a:pPr>
            <a:r>
              <a:rPr lang="en-IN" dirty="0"/>
              <a:t>  •  Dynamically weights channels per network type</a:t>
            </a:r>
          </a:p>
          <a:p>
            <a:pPr marL="0" indent="0">
              <a:buNone/>
              <a:defRPr sz="2000" b="0">
                <a:latin typeface="Calibri"/>
              </a:defRPr>
            </a:pPr>
            <a:r>
              <a:rPr lang="en-IN" dirty="0"/>
              <a:t>  •  Dense networks → NGI upweighted  |  Sparse networks → NLI upweighted</a:t>
            </a:r>
          </a:p>
          <a:p>
            <a:pPr marL="0" indent="0">
              <a:buNone/>
              <a:defRPr sz="2000" b="0">
                <a:latin typeface="Calibri"/>
              </a:defRPr>
            </a:pPr>
            <a:r>
              <a:rPr lang="en-IN" dirty="0"/>
              <a:t>  •  Adaptive without manual feature selection</a:t>
            </a:r>
          </a:p>
          <a:p>
            <a:pPr marL="0" indent="0">
              <a:buNone/>
              <a:defRPr sz="2000" b="0">
                <a:latin typeface="Calibri"/>
              </a:defRPr>
            </a:pPr>
            <a:endParaRPr lang="en-IN" dirty="0"/>
          </a:p>
          <a:p>
            <a:pPr marL="0" indent="0">
              <a:buNone/>
              <a:defRPr sz="2000" b="1">
                <a:latin typeface="Calibri"/>
              </a:defRPr>
            </a:pPr>
            <a:r>
              <a:rPr lang="en-IN" dirty="0"/>
              <a:t>3. Hierarchical Aggregation</a:t>
            </a:r>
          </a:p>
          <a:p>
            <a:pPr marL="0" indent="0">
              <a:buNone/>
              <a:defRPr sz="2000" b="0">
                <a:latin typeface="Calibri"/>
              </a:defRPr>
            </a:pPr>
            <a:r>
              <a:rPr lang="en-IN" dirty="0"/>
              <a:t>  •  Iterative neighbourhood summation propagates information across hops</a:t>
            </a:r>
          </a:p>
          <a:p>
            <a:pPr marL="0" indent="0">
              <a:buNone/>
              <a:defRPr sz="2000" b="0">
                <a:latin typeface="Calibri"/>
              </a:defRPr>
            </a:pPr>
            <a:r>
              <a:rPr lang="en-IN" dirty="0"/>
              <a:t>  •  Captures 2-hop patterns that single-hop methods completely miss</a:t>
            </a:r>
          </a:p>
          <a:p>
            <a:pPr marL="0" indent="0">
              <a:buNone/>
              <a:defRPr sz="2000" b="0">
                <a:latin typeface="Calibri"/>
              </a:defRPr>
            </a:pPr>
            <a:r>
              <a:rPr lang="en-IN" dirty="0"/>
              <a:t>  •  Particularly beneficial for sparse networks (Budapest: +46% over K-Shell)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14</a:t>
            </a:fld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702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11B32-CAC3-CFEB-01D9-E326763F5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4E8FD-E687-A533-8955-4178A6041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93" y="282701"/>
            <a:ext cx="10515600" cy="1325563"/>
          </a:xfrm>
        </p:spPr>
        <p:txBody>
          <a:bodyPr/>
          <a:lstStyle/>
          <a:p>
            <a:r>
              <a:rPr lang="en-IN" dirty="0"/>
              <a:t>Limitations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40C707A-D590-B2B0-BF44-D93EE310C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51E8992-2231-60E6-AE3E-E590D441A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15</a:t>
            </a:fld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6AE1E8-A9CD-E7C9-EEF1-EA31806038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C88E1-A548-788B-8EC2-C2A8BB92D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418" y="1497633"/>
            <a:ext cx="8444948" cy="1603375"/>
          </a:xfrm>
        </p:spPr>
        <p:txBody>
          <a:bodyPr>
            <a:normAutofit/>
          </a:bodyPr>
          <a:lstStyle/>
          <a:p>
            <a:pPr marL="0" indent="0">
              <a:buNone/>
              <a:defRPr sz="2000" b="1">
                <a:latin typeface="Calibri"/>
              </a:defRPr>
            </a:pPr>
            <a:r>
              <a:rPr lang="en-US" sz="2400" dirty="0"/>
              <a:t>1. Scalability</a:t>
            </a:r>
          </a:p>
          <a:p>
            <a:pPr marL="0" indent="0">
              <a:buNone/>
              <a:defRPr sz="2000" b="0">
                <a:latin typeface="Calibri"/>
              </a:defRPr>
            </a:pPr>
            <a:r>
              <a:rPr lang="en-US" dirty="0"/>
              <a:t>  •  NGI requires all-pairs shortest paths — O(n³)</a:t>
            </a:r>
          </a:p>
          <a:p>
            <a:pPr marL="0" indent="0">
              <a:buNone/>
              <a:defRPr sz="2000" b="0">
                <a:latin typeface="Calibri"/>
              </a:defRPr>
            </a:pPr>
            <a:r>
              <a:rPr lang="en-US" dirty="0"/>
              <a:t>  •  Feasible for 297–834 nodes; needs approximation for large-scale networks</a:t>
            </a:r>
          </a:p>
          <a:p>
            <a:pPr>
              <a:defRPr sz="2000" b="0">
                <a:latin typeface="Calibri"/>
              </a:defRPr>
            </a:pP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6B12859-E1E7-F502-3D88-FBD1FBF6F822}"/>
              </a:ext>
            </a:extLst>
          </p:cNvPr>
          <p:cNvSpPr txBox="1">
            <a:spLocks/>
          </p:cNvSpPr>
          <p:nvPr/>
        </p:nvSpPr>
        <p:spPr>
          <a:xfrm>
            <a:off x="639418" y="3018194"/>
            <a:ext cx="10442712" cy="160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 sz="2000" b="1">
                <a:latin typeface="Calibri"/>
              </a:defRPr>
            </a:pPr>
            <a:r>
              <a:rPr lang="en-US" sz="2400" b="1" dirty="0">
                <a:latin typeface="Calibri"/>
              </a:rPr>
              <a:t>2. Hyperparameter Sensitivity</a:t>
            </a:r>
          </a:p>
          <a:p>
            <a:pPr marL="0" indent="0">
              <a:buNone/>
              <a:defRPr sz="2000" b="0">
                <a:latin typeface="Calibri"/>
              </a:defRPr>
            </a:pPr>
            <a:r>
              <a:rPr lang="en-US" sz="2000" dirty="0">
                <a:latin typeface="Calibri"/>
              </a:rPr>
              <a:t>   </a:t>
            </a:r>
            <a:r>
              <a:rPr lang="en-US" dirty="0"/>
              <a:t>•  Performance depends on L (</a:t>
            </a:r>
            <a:r>
              <a:rPr lang="en-US" dirty="0" err="1"/>
              <a:t>neighbourhood</a:t>
            </a:r>
            <a:r>
              <a:rPr lang="en-US" dirty="0"/>
              <a:t> size) and α (NGI balancing constant)</a:t>
            </a:r>
            <a:endParaRPr lang="en-US" sz="2000" dirty="0">
              <a:latin typeface="Calibri"/>
            </a:endParaRPr>
          </a:p>
          <a:p>
            <a:pPr marL="0" indent="0">
              <a:buNone/>
              <a:defRPr sz="2000" b="0">
                <a:latin typeface="Calibri"/>
              </a:defRPr>
            </a:pPr>
            <a:r>
              <a:rPr lang="en-US" sz="2000" dirty="0">
                <a:latin typeface="Calibri"/>
              </a:rPr>
              <a:t>   •  </a:t>
            </a:r>
            <a:r>
              <a:rPr lang="en-US" dirty="0"/>
              <a:t>Grid search could yield further improvements</a:t>
            </a:r>
          </a:p>
          <a:p>
            <a:pPr marL="0" indent="0">
              <a:buFont typeface="Arial" panose="020B0604020202020204" pitchFamily="34" charset="0"/>
              <a:buNone/>
              <a:defRPr sz="2000" b="0">
                <a:latin typeface="Calibri"/>
              </a:defRPr>
            </a:pPr>
            <a:endParaRPr lang="en-US" sz="2000" dirty="0">
              <a:latin typeface="Calibri"/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62441D61-9CA5-AB9D-553B-54712B5D013E}"/>
              </a:ext>
            </a:extLst>
          </p:cNvPr>
          <p:cNvSpPr txBox="1">
            <a:spLocks/>
          </p:cNvSpPr>
          <p:nvPr/>
        </p:nvSpPr>
        <p:spPr>
          <a:xfrm>
            <a:off x="639418" y="4510938"/>
            <a:ext cx="10442712" cy="160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 sz="2000" b="1">
                <a:latin typeface="Calibri"/>
              </a:defRPr>
            </a:pPr>
            <a:r>
              <a:rPr lang="en-US" sz="2400" b="1" dirty="0">
                <a:latin typeface="Calibri"/>
              </a:rPr>
              <a:t>3. Static Graph Assumption</a:t>
            </a:r>
          </a:p>
          <a:p>
            <a:pPr marL="0" indent="0">
              <a:buNone/>
              <a:defRPr sz="2000" b="0">
                <a:latin typeface="Calibri"/>
              </a:defRPr>
            </a:pPr>
            <a:r>
              <a:rPr lang="en-US" sz="2000" dirty="0">
                <a:latin typeface="Calibri"/>
              </a:rPr>
              <a:t>   </a:t>
            </a:r>
            <a:r>
              <a:rPr lang="en-US" dirty="0"/>
              <a:t>•  Assumes static, unweighted, undirected graphs</a:t>
            </a:r>
            <a:endParaRPr lang="en-US" sz="2000" dirty="0">
              <a:latin typeface="Calibri"/>
            </a:endParaRPr>
          </a:p>
          <a:p>
            <a:pPr marL="0" indent="0">
              <a:buNone/>
              <a:defRPr sz="2000" b="0">
                <a:latin typeface="Calibri"/>
              </a:defRPr>
            </a:pPr>
            <a:r>
              <a:rPr lang="en-US" sz="2000" dirty="0">
                <a:latin typeface="Calibri"/>
              </a:rPr>
              <a:t>   • </a:t>
            </a:r>
            <a:r>
              <a:rPr lang="en-US" dirty="0"/>
              <a:t>Does not account for temporal evolution - limits applicability to dynamic networks</a:t>
            </a:r>
          </a:p>
          <a:p>
            <a:pPr marL="0" indent="0">
              <a:buFont typeface="Arial" panose="020B0604020202020204" pitchFamily="34" charset="0"/>
              <a:buNone/>
              <a:defRPr sz="2000" b="0">
                <a:latin typeface="Calibri"/>
              </a:defRPr>
            </a:pPr>
            <a:endParaRPr lang="en-US" sz="2000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40199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3A020-0074-1C4C-7FE8-61154342A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92A1E-7755-A1B6-61EB-591765B11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93" y="282701"/>
            <a:ext cx="10515600" cy="1325563"/>
          </a:xfrm>
        </p:spPr>
        <p:txBody>
          <a:bodyPr/>
          <a:lstStyle/>
          <a:p>
            <a:r>
              <a:rPr lang="en-IN" dirty="0"/>
              <a:t>Future Work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69EB84D-E7AE-8DCB-499A-3200F2171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235D2F0-0BD5-2B9D-A07B-49A7432B4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16</a:t>
            </a:fld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5B5CF5-94FE-B22F-BCD8-2CEEB6F549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CBC85-14FB-9D8A-E477-836010C41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418" y="1677660"/>
            <a:ext cx="8444948" cy="1325564"/>
          </a:xfrm>
        </p:spPr>
        <p:txBody>
          <a:bodyPr>
            <a:normAutofit/>
          </a:bodyPr>
          <a:lstStyle/>
          <a:p>
            <a:pPr marL="0" indent="0">
              <a:buNone/>
              <a:defRPr sz="2000" b="1">
                <a:latin typeface="Calibri"/>
              </a:defRPr>
            </a:pPr>
            <a:r>
              <a:rPr lang="en-US" sz="2400" dirty="0"/>
              <a:t>1. Extension to Weighted Graphs (Priority)</a:t>
            </a:r>
          </a:p>
          <a:p>
            <a:pPr marL="0" indent="0">
              <a:buNone/>
              <a:defRPr sz="2000" b="0">
                <a:latin typeface="Calibri"/>
              </a:defRPr>
            </a:pPr>
            <a:r>
              <a:rPr lang="en-US" dirty="0"/>
              <a:t>     •  Replace binary adjacency with weighted matrix </a:t>
            </a:r>
            <a:r>
              <a:rPr lang="en-US" dirty="0" err="1"/>
              <a:t>W_ij</a:t>
            </a:r>
            <a:endParaRPr lang="en-US" dirty="0"/>
          </a:p>
          <a:p>
            <a:pPr marL="0" indent="0">
              <a:buNone/>
              <a:defRPr sz="2000" b="0">
                <a:latin typeface="Calibri"/>
              </a:defRPr>
            </a:pPr>
            <a:r>
              <a:rPr lang="en-US" dirty="0"/>
              <a:t>     •  Modify NLI/NGI to incorporate edge weights</a:t>
            </a:r>
          </a:p>
          <a:p>
            <a:pPr>
              <a:defRPr sz="2000" b="0">
                <a:latin typeface="Calibri"/>
              </a:defRPr>
            </a:pP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D9ACAB1-F980-56AF-396B-7228466DFE4E}"/>
              </a:ext>
            </a:extLst>
          </p:cNvPr>
          <p:cNvSpPr txBox="1">
            <a:spLocks/>
          </p:cNvSpPr>
          <p:nvPr/>
        </p:nvSpPr>
        <p:spPr>
          <a:xfrm>
            <a:off x="639418" y="3018194"/>
            <a:ext cx="10442712" cy="160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 sz="2000" b="1">
                <a:latin typeface="Calibri"/>
              </a:defRPr>
            </a:pPr>
            <a:endParaRPr lang="en-US" sz="2000" dirty="0">
              <a:latin typeface="Calibri"/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F287A66-F212-60FB-1963-E7718A926E89}"/>
              </a:ext>
            </a:extLst>
          </p:cNvPr>
          <p:cNvSpPr txBox="1">
            <a:spLocks/>
          </p:cNvSpPr>
          <p:nvPr/>
        </p:nvSpPr>
        <p:spPr>
          <a:xfrm>
            <a:off x="639418" y="4510938"/>
            <a:ext cx="10442712" cy="160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 sz="2000" b="0">
                <a:latin typeface="Calibri"/>
              </a:defRPr>
            </a:pPr>
            <a:endParaRPr lang="en-US" sz="2000" dirty="0">
              <a:latin typeface="Calibri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FA167905-1AB2-EA97-EAA7-FCFC7335E9EF}"/>
              </a:ext>
            </a:extLst>
          </p:cNvPr>
          <p:cNvSpPr txBox="1">
            <a:spLocks/>
          </p:cNvSpPr>
          <p:nvPr/>
        </p:nvSpPr>
        <p:spPr>
          <a:xfrm>
            <a:off x="639418" y="3185373"/>
            <a:ext cx="8444948" cy="1325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 sz="2000" b="1">
                <a:latin typeface="Calibri"/>
              </a:defRPr>
            </a:pPr>
            <a:r>
              <a:rPr lang="en-US" sz="2400" b="1" dirty="0">
                <a:latin typeface="Calibri"/>
              </a:rPr>
              <a:t>2. Extension to Directed &amp; Dynamic Graphs</a:t>
            </a:r>
          </a:p>
          <a:p>
            <a:pPr marL="0" indent="0">
              <a:buNone/>
              <a:defRPr sz="2000" b="0">
                <a:latin typeface="Calibri"/>
              </a:defRPr>
            </a:pPr>
            <a:r>
              <a:rPr lang="en-US" sz="2000" dirty="0">
                <a:latin typeface="Calibri"/>
              </a:rPr>
              <a:t>     •  </a:t>
            </a:r>
            <a:r>
              <a:rPr lang="en-US" dirty="0"/>
              <a:t>Handle directed edges (Twitter, citations, web graphs)</a:t>
            </a:r>
            <a:endParaRPr lang="en-US" sz="2000" dirty="0">
              <a:latin typeface="Calibri"/>
            </a:endParaRPr>
          </a:p>
          <a:p>
            <a:pPr marL="0" indent="0">
              <a:buNone/>
              <a:defRPr sz="2000" b="0">
                <a:latin typeface="Calibri"/>
              </a:defRPr>
            </a:pPr>
            <a:r>
              <a:rPr lang="en-US" sz="2000" dirty="0">
                <a:latin typeface="Calibri"/>
              </a:rPr>
              <a:t>     •  </a:t>
            </a:r>
            <a:r>
              <a:rPr lang="en-US" dirty="0"/>
              <a:t>Account for temporal network evolution</a:t>
            </a:r>
            <a:endParaRPr lang="en-US" sz="2000" dirty="0">
              <a:latin typeface="Calibri"/>
            </a:endParaRPr>
          </a:p>
          <a:p>
            <a:pPr>
              <a:defRPr sz="2000" b="0">
                <a:latin typeface="Calibri"/>
              </a:defRPr>
            </a:pPr>
            <a:endParaRPr lang="en-US" sz="2000" dirty="0">
              <a:latin typeface="Calibri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091EAFD-DA28-1B00-56B4-5E9010A4B76D}"/>
              </a:ext>
            </a:extLst>
          </p:cNvPr>
          <p:cNvSpPr txBox="1">
            <a:spLocks/>
          </p:cNvSpPr>
          <p:nvPr/>
        </p:nvSpPr>
        <p:spPr>
          <a:xfrm>
            <a:off x="639418" y="4790413"/>
            <a:ext cx="8444948" cy="104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 sz="2000" b="1">
                <a:latin typeface="Calibri"/>
              </a:defRPr>
            </a:pPr>
            <a:r>
              <a:rPr lang="en-US" sz="2400" b="1" dirty="0">
                <a:latin typeface="Calibri"/>
              </a:rPr>
              <a:t>3. Alternative Diffusion Models</a:t>
            </a:r>
          </a:p>
          <a:p>
            <a:pPr marL="0" indent="0">
              <a:buNone/>
              <a:defRPr sz="2000" b="0">
                <a:latin typeface="Calibri"/>
              </a:defRPr>
            </a:pPr>
            <a:r>
              <a:rPr lang="en-US" sz="2000" dirty="0">
                <a:latin typeface="Calibri"/>
              </a:rPr>
              <a:t>     •  </a:t>
            </a:r>
            <a:r>
              <a:rPr lang="en-US" dirty="0"/>
              <a:t>Independent Cascade (IC) and Linear Threshold (LT) models</a:t>
            </a:r>
          </a:p>
          <a:p>
            <a:pPr marL="0" indent="0">
              <a:buNone/>
              <a:defRPr sz="2000" b="0">
                <a:latin typeface="Calibri"/>
              </a:defRPr>
            </a:pPr>
            <a:endParaRPr lang="en-US" sz="2000" dirty="0">
              <a:latin typeface="Calibri"/>
            </a:endParaRPr>
          </a:p>
          <a:p>
            <a:pPr>
              <a:defRPr sz="2000" b="0">
                <a:latin typeface="Calibri"/>
              </a:defRPr>
            </a:pPr>
            <a:endParaRPr lang="en-US" sz="2000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6911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0ADAD-A157-21A7-CF87-FAC9D659B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Plagarism</a:t>
            </a:r>
            <a:r>
              <a:rPr lang="en-US" dirty="0"/>
              <a:t> Report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FF51EC-75B7-DF3A-4172-5CC99FB57D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8313" y="1358849"/>
            <a:ext cx="8375374" cy="458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345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621" y="325885"/>
            <a:ext cx="10515600" cy="1325563"/>
          </a:xfrm>
        </p:spPr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621" y="1341783"/>
            <a:ext cx="11523617" cy="4661451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pPr marL="0" indent="0">
              <a:buNone/>
              <a:defRPr sz="1800">
                <a:latin typeface="Calibri"/>
              </a:defRPr>
            </a:pPr>
            <a:r>
              <a:rPr lang="en-IN" dirty="0"/>
              <a:t>[1] D. Chen, L. </a:t>
            </a:r>
            <a:r>
              <a:rPr lang="en-IN" dirty="0" err="1"/>
              <a:t>Lü</a:t>
            </a:r>
            <a:r>
              <a:rPr lang="en-IN" dirty="0"/>
              <a:t>, M.-S. Shang, Y.-C. Zhang, T. Zhou, "Identifying influential nodes in complex networks," Physica A, vol. 391, 2012.</a:t>
            </a:r>
          </a:p>
          <a:p>
            <a:pPr>
              <a:defRPr sz="1800">
                <a:latin typeface="Calibri"/>
              </a:defRPr>
            </a:pPr>
            <a:endParaRPr lang="en-IN" dirty="0"/>
          </a:p>
          <a:p>
            <a:pPr marL="0" indent="0">
              <a:buNone/>
              <a:defRPr sz="1800">
                <a:latin typeface="Calibri"/>
              </a:defRPr>
            </a:pPr>
            <a:r>
              <a:rPr lang="en-IN" dirty="0"/>
              <a:t>[2] A. Farooq, G. J. Joyia, M. Uzair, U. Akram, "Detection of influential nodes using social networks analysis," </a:t>
            </a:r>
            <a:r>
              <a:rPr lang="en-IN" dirty="0" err="1"/>
              <a:t>iCoMET</a:t>
            </a:r>
            <a:r>
              <a:rPr lang="en-IN" dirty="0"/>
              <a:t>, 2018.</a:t>
            </a:r>
          </a:p>
          <a:p>
            <a:pPr>
              <a:defRPr sz="1800">
                <a:latin typeface="Calibri"/>
              </a:defRPr>
            </a:pPr>
            <a:endParaRPr lang="en-IN" dirty="0"/>
          </a:p>
          <a:p>
            <a:pPr marL="0" indent="0">
              <a:buNone/>
              <a:defRPr sz="1800">
                <a:latin typeface="Calibri"/>
              </a:defRPr>
            </a:pPr>
            <a:r>
              <a:rPr lang="en-IN" dirty="0"/>
              <a:t>[3] F. Guo, B. Cao, J. Sun, S. Ji, W. Zhou, "Key node identification method based on hybrid centrality and graph neural network," Research Square, 2026.</a:t>
            </a:r>
          </a:p>
          <a:p>
            <a:pPr>
              <a:defRPr sz="1800">
                <a:latin typeface="Calibri"/>
              </a:defRPr>
            </a:pPr>
            <a:endParaRPr lang="en-IN" dirty="0"/>
          </a:p>
          <a:p>
            <a:pPr marL="0" indent="0">
              <a:buNone/>
              <a:defRPr sz="1800">
                <a:latin typeface="Calibri"/>
              </a:defRPr>
            </a:pPr>
            <a:r>
              <a:rPr lang="en-IN" dirty="0"/>
              <a:t>[4] N. </a:t>
            </a:r>
            <a:r>
              <a:rPr lang="en-IN" dirty="0" err="1"/>
              <a:t>Hafiene</a:t>
            </a:r>
            <a:r>
              <a:rPr lang="en-IN" dirty="0"/>
              <a:t>, W. Karoui, L. B. Romdhane, "Influential nodes detection in dynamic social networks: A survey," Expert Systems with Applications, 2020.</a:t>
            </a:r>
          </a:p>
          <a:p>
            <a:pPr>
              <a:defRPr sz="1800">
                <a:latin typeface="Calibri"/>
              </a:defRPr>
            </a:pPr>
            <a:endParaRPr lang="en-IN" dirty="0"/>
          </a:p>
          <a:p>
            <a:pPr marL="0" indent="0">
              <a:buNone/>
              <a:defRPr sz="1800">
                <a:latin typeface="Calibri"/>
              </a:defRPr>
            </a:pPr>
            <a:r>
              <a:rPr lang="en-IN" dirty="0"/>
              <a:t>[5] M. F. Mukhtar et al., "Comparative analysis of networks' centrality measures with ANOVA," Mathematical </a:t>
            </a:r>
            <a:r>
              <a:rPr lang="en-IN" dirty="0" err="1"/>
              <a:t>Modeling</a:t>
            </a:r>
            <a:r>
              <a:rPr lang="en-IN" dirty="0"/>
              <a:t> and Computing.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18</a:t>
            </a:fld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353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E7875-81E2-26A9-B190-4590ADBF7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4018-4364-4D40-A839-ED0F2F42D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621" y="325885"/>
            <a:ext cx="10515600" cy="1325563"/>
          </a:xfrm>
        </p:spPr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34265-6B43-9E6D-F802-A3D4BECF8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60" y="1331844"/>
            <a:ext cx="11640379" cy="4810539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  <a:defRPr sz="1800">
                <a:latin typeface="Calibri"/>
              </a:defRPr>
            </a:pPr>
            <a:r>
              <a:rPr lang="en-IN" dirty="0"/>
              <a:t>[6] A. Patel, B. Singh, "Graph convolutional network for structural equivalent key nodes identification in complex networks," Chaos, Solitons &amp; Fractals, 2025.</a:t>
            </a:r>
          </a:p>
          <a:p>
            <a:pPr>
              <a:defRPr sz="1800">
                <a:latin typeface="Calibri"/>
              </a:defRPr>
            </a:pPr>
            <a:endParaRPr lang="en-IN" dirty="0"/>
          </a:p>
          <a:p>
            <a:pPr marL="0" indent="0">
              <a:buNone/>
              <a:defRPr sz="1800">
                <a:latin typeface="Calibri"/>
              </a:defRPr>
            </a:pPr>
            <a:r>
              <a:rPr lang="en-IN" dirty="0"/>
              <a:t>[7] Y. C. Thotakura et al., "Community detection and centrality measures in Alzheimer's disease network analysis," ICCCNT, 2024.</a:t>
            </a:r>
          </a:p>
          <a:p>
            <a:pPr marL="0" indent="0">
              <a:buNone/>
              <a:defRPr sz="1800">
                <a:latin typeface="Calibri"/>
              </a:defRPr>
            </a:pPr>
            <a:endParaRPr lang="en-IN" dirty="0"/>
          </a:p>
          <a:p>
            <a:pPr marL="0" indent="0">
              <a:buNone/>
              <a:defRPr sz="1800">
                <a:latin typeface="Calibri"/>
              </a:defRPr>
            </a:pPr>
            <a:r>
              <a:rPr lang="en-IN" dirty="0"/>
              <a:t>[8] D. Tu, F. Yang, X. Tang, J. Xie, Z. Tao, "Identifying influential nodes based on a hybrid CNN-GNN approach," EIBDCT, 2025.</a:t>
            </a:r>
          </a:p>
          <a:p>
            <a:pPr marL="0" indent="0">
              <a:buNone/>
              <a:defRPr sz="1800">
                <a:latin typeface="Calibri"/>
              </a:defRPr>
            </a:pPr>
            <a:endParaRPr lang="en-IN" dirty="0"/>
          </a:p>
          <a:p>
            <a:pPr marL="0" indent="0">
              <a:buNone/>
              <a:defRPr sz="1800">
                <a:latin typeface="Calibri"/>
              </a:defRPr>
            </a:pPr>
            <a:r>
              <a:rPr lang="en-IN" dirty="0"/>
              <a:t>[9] S. Zhang, H. Tong, J. Xu, R. Maciejewski, "Graph convolutional networks: A comprehensive review," Computational Social Networks, 2019.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7361A36-875A-6B02-0EC5-9FDE84A52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3C992BF-86D5-52C7-3A4F-2BF5B6294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19</a:t>
            </a:fld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3A136E-E733-A922-83CC-887A4A7813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600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3275</TotalTime>
  <Words>1714</Words>
  <Application>Microsoft Office PowerPoint</Application>
  <PresentationFormat>Widescreen</PresentationFormat>
  <Paragraphs>273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Office Theme</vt:lpstr>
      <vt:lpstr>Influential Node Detection in Weighted Graphs using Graph Convolutional Networks Honours Project Phase1 Review2</vt:lpstr>
      <vt:lpstr>Outline</vt:lpstr>
      <vt:lpstr>Introduction &amp; Motivation</vt:lpstr>
      <vt:lpstr>Motivation — The Gap</vt:lpstr>
      <vt:lpstr>Problem Statement &amp; Objectives</vt:lpstr>
      <vt:lpstr>Methodology — NLGCN Framework</vt:lpstr>
      <vt:lpstr>NLGCN Framework </vt:lpstr>
      <vt:lpstr>Structural Features — NLI &amp; NGI</vt:lpstr>
      <vt:lpstr>Structural Features — NLI &amp; NGI</vt:lpstr>
      <vt:lpstr>NLGCN Model Architecture</vt:lpstr>
      <vt:lpstr>Datasets</vt:lpstr>
      <vt:lpstr>Results — Kendall Tau Correlation</vt:lpstr>
      <vt:lpstr>Top-10 Influential Node Identification</vt:lpstr>
      <vt:lpstr>Discussion — Why NLGCN Outperforms</vt:lpstr>
      <vt:lpstr>Limitations</vt:lpstr>
      <vt:lpstr>Future Work</vt:lpstr>
      <vt:lpstr>Plagarism Report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Engineering</dc:title>
  <dc:creator>Arun Cyril</dc:creator>
  <cp:lastModifiedBy>ALBIN JOHN</cp:lastModifiedBy>
  <cp:revision>305</cp:revision>
  <dcterms:created xsi:type="dcterms:W3CDTF">2021-08-20T07:15:07Z</dcterms:created>
  <dcterms:modified xsi:type="dcterms:W3CDTF">2026-04-07T12:03:45Z</dcterms:modified>
</cp:coreProperties>
</file>