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89" r:id="rId3"/>
    <p:sldId id="301" r:id="rId4"/>
    <p:sldId id="307" r:id="rId5"/>
    <p:sldId id="303" r:id="rId6"/>
    <p:sldId id="302" r:id="rId7"/>
    <p:sldId id="305" r:id="rId8"/>
    <p:sldId id="306" r:id="rId9"/>
    <p:sldId id="292" r:id="rId10"/>
    <p:sldId id="291" r:id="rId11"/>
    <p:sldId id="299" r:id="rId12"/>
    <p:sldId id="293" r:id="rId13"/>
    <p:sldId id="308" r:id="rId14"/>
    <p:sldId id="297" r:id="rId15"/>
    <p:sldId id="296" r:id="rId16"/>
    <p:sldId id="30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010" autoAdjust="0"/>
  </p:normalViewPr>
  <p:slideViewPr>
    <p:cSldViewPr snapToGrid="0">
      <p:cViewPr varScale="1">
        <p:scale>
          <a:sx n="77" d="100"/>
          <a:sy n="77" d="100"/>
        </p:scale>
        <p:origin x="88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1FFFB8-1DD6-4435-808E-1D76E7AD059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892A09-5F36-416A-89C0-E370DBF6C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730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532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5581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2961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36459-BB7B-4069-DB1E-53DA258CD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CC1C50-1681-A4D2-6684-DA80EC59DA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CC562E-D610-2D76-EE06-7CDBE61ADD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EE524-254C-A87B-790E-F443A87450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1953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4300E-0486-FC9E-D95C-C57177C2D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AC1AE6-4881-186C-166F-06AD6A7C83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A7ABD7-2EC1-4852-59BC-D5F10A581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C6029E-BA81-2187-CF56-C49028B2A6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6302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4233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FAFF6-9F08-EB9D-BC30-F964BB2D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49D7C4-2F3D-89A7-15CE-0846DF09AF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729422-3E10-9899-C3E7-EF6C6DF69D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B3607B-9375-9F23-F581-77FEA3BE85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5229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669C4-E753-D524-9A73-62C6CD889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4630DF-D20F-9676-16AB-A4F3959790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1F44F1-A5B7-96B0-2658-9E26B1955A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90DF02-2361-C6D8-3E53-04735EFD89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7324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7951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2868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5792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2017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11BB1-B47A-E6FD-431F-605B076DB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903B59-A35B-8BDA-EE1C-75DD71BC1E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6B2CA8-F8A0-B8D7-8BC8-00FFAC2BA1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367C4F-CFFF-DB5B-5F7C-BEF7089B03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0360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1373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64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B59A3-2E57-2B28-BAD7-74513787B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6D939E-9949-EB64-61B1-CB0106C79D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1D109C-24DA-E0CD-A64C-B6AE46C812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8793E-9F6D-2629-C26E-54A2482D09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409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9B47E-7FD2-4F7F-9381-C4308D258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12F421-AC29-47BD-8892-41909CF19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CFB46-51B2-43F8-B3E5-F10413A22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3CC8D-DF4F-4537-888A-8EE6EA88B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3F124-D10F-42EF-94F2-7FBC9565E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035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FAF84-1226-4033-A36F-9CBF8F50C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02083-37E7-4972-9BD5-DD44F1A3C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2F544-050C-4AB9-9095-D9D49AAD2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A83C4-112A-4972-9490-E0C0BFDA0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7559D-8902-4FE2-8DC9-183BD5B08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233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1EF2A-5C6B-4555-B136-8C1C3CF3E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A2A057-50B5-4DD0-8F0A-F2D8D5D2BC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4B264-D1AA-42A0-AFED-4F6CAB8BF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7B74F-FC03-4A6C-A8E2-A0A538917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910F8-597D-4792-BAC8-A78F4A425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809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D0B0B-FB76-4571-8977-8B3C08C5D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7BF79-B272-4FC4-9106-632C8D23CA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8AF5FA-67E8-4EBE-A468-53B751D6CD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7AA619-C884-49E4-BAB7-9893F9220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75F6F1-CD3D-4683-B56A-CA4563B56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C63B8C-7D18-4E19-8978-D5C6EBA98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2600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77B01-8C23-4336-B1C3-FF72D68AA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B695C1-E1E9-4A98-937E-ED1C020AD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75512-181D-4D77-8CAF-A5144E14BF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35E4DC-DF2F-4F4A-8F3F-9A0A93E622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2C58E7-FA62-4552-96A3-2A99033860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98AE32-9603-437D-8BF7-0E77546FC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01969E-3CD1-4F9E-A7E7-B9B4EF8A0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97F010-A6F0-4DF8-A842-5E31FC018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196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E5A20-2A9F-4D6C-943E-3346E4B88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66C692-C827-4E55-AFA5-76012CD1D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9F3284-9696-48B8-984D-EF44AFF57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3B2182-6056-4315-85AF-6B170A3BD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189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3127D1-DB28-4E2E-AB99-81CE7B31D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D74E91-7F9D-445A-9D5A-D936D47F6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F7EE57-433A-40AE-9D93-D33BBB3E7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1966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5A1A1-4F5E-44F9-B94A-C250BE555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D6C8D-A700-4FCE-B56C-3A9ABC2F1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10EC8-7B17-4C9B-9964-44916E021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220A7F-94E3-4E5B-BFA0-48322E2FC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378A7-2C2A-4383-8653-F4DA3178C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88D93A-9480-4E63-8798-CD24AF0A9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447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F6621-ECC8-4152-9057-81E2FDAEC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3B2BEA-9AD4-4A0C-A422-54C36BB840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126CA7-371A-43DB-8F97-FAC204E225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1BBC57-3C07-4506-B4A1-832FDC2AC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1FE5C9-2CC7-4F1D-BC56-0A551A41B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8682B3-FAFE-491A-8C8A-4FCDBD771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86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54D76-6DBE-44B7-BA10-CABAE4DC1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D751C6-4C65-4D0C-803C-D873E75728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3335A-CD1D-48A4-BBF1-DFE274F90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D7192-B6E0-4D23-B0F4-2ED81C241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35068-BFD5-4BFC-983A-200964FB6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9487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EE84AD-9F49-48BE-9C47-E797DEF603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AD3D05-FE87-4F0F-8AD2-D3A0256B3B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D02F6-DF5D-4A18-81E3-7798A49C0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3DD7E-1A38-4F0A-8410-AFE04DC7F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A0932-B146-44C0-800B-F7D153BAA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2585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695D76-3F76-4440-BE44-E11DC8D09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57BFB-E7FD-43C8-A3D2-454449D5C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78B87-4569-4FAE-AC1E-60B780FF43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9F855A-7651-4E31-8BB5-9B7BFCF86767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9C498-524F-43DB-8E60-5093D891D8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A8424-BFE9-4B1D-B213-4F570AB34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050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7687" y="1614178"/>
            <a:ext cx="9144000" cy="1428332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A Learning-Based Framework for Influential Node Detection in Weighted Graphs.</a:t>
            </a:r>
            <a:br>
              <a:rPr lang="en-IN" sz="4800" dirty="0"/>
            </a:br>
            <a:r>
              <a:rPr lang="en-IN" sz="2700" dirty="0"/>
              <a:t>Honours Project Phase1 Review1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82930" y="3187134"/>
            <a:ext cx="9144000" cy="1655762"/>
          </a:xfrm>
        </p:spPr>
        <p:txBody>
          <a:bodyPr/>
          <a:lstStyle/>
          <a:p>
            <a:r>
              <a:rPr lang="en-IN" sz="2800" dirty="0"/>
              <a:t>By</a:t>
            </a:r>
          </a:p>
          <a:p>
            <a:r>
              <a:rPr lang="en-IN" sz="2800" i="1" dirty="0"/>
              <a:t>Albin John</a:t>
            </a:r>
          </a:p>
          <a:p>
            <a:r>
              <a:rPr lang="en-IN" sz="2800" i="1" dirty="0"/>
              <a:t>2023BCD0005</a:t>
            </a:r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043" y="78543"/>
            <a:ext cx="1861196" cy="866940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64305" y="6112042"/>
            <a:ext cx="4989095" cy="609433"/>
          </a:xfrm>
        </p:spPr>
        <p:txBody>
          <a:bodyPr/>
          <a:lstStyle/>
          <a:p>
            <a:r>
              <a:rPr lang="en-US" dirty="0"/>
              <a:t>Indian Institute of Information Technology </a:t>
            </a:r>
            <a:r>
              <a:rPr lang="en-US" dirty="0" err="1"/>
              <a:t>Kottayam</a:t>
            </a:r>
            <a:endParaRPr lang="en-US" dirty="0"/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7865175" y="5443347"/>
            <a:ext cx="3474492" cy="10291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Guided By,</a:t>
            </a:r>
          </a:p>
          <a:p>
            <a:r>
              <a:rPr lang="en-IN" dirty="0"/>
              <a:t>Dr. Jisha Mariyam John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2525230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40565"/>
            <a:ext cx="10515600" cy="463639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Motivation</a:t>
            </a:r>
          </a:p>
          <a:p>
            <a:r>
              <a:rPr lang="en-US" dirty="0"/>
              <a:t>Literature Review</a:t>
            </a:r>
          </a:p>
          <a:p>
            <a:r>
              <a:rPr lang="en-US" dirty="0"/>
              <a:t>Research Gaps </a:t>
            </a:r>
          </a:p>
          <a:p>
            <a:r>
              <a:rPr lang="en-US" dirty="0"/>
              <a:t>Problem Statement</a:t>
            </a:r>
          </a:p>
          <a:p>
            <a:r>
              <a:rPr lang="en-US" dirty="0"/>
              <a:t>Objectives</a:t>
            </a:r>
          </a:p>
          <a:p>
            <a:r>
              <a:rPr lang="en-IN" dirty="0"/>
              <a:t>Methodology </a:t>
            </a:r>
          </a:p>
          <a:p>
            <a:r>
              <a:rPr lang="en-IN" dirty="0"/>
              <a:t>Architecture</a:t>
            </a:r>
          </a:p>
          <a:p>
            <a:r>
              <a:rPr lang="en-US" dirty="0"/>
              <a:t>Timeline</a:t>
            </a:r>
          </a:p>
          <a:p>
            <a:r>
              <a:rPr lang="en-US" dirty="0"/>
              <a:t>References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2</a:t>
            </a:fld>
            <a:endParaRPr lang="en-US" sz="1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043" y="78543"/>
            <a:ext cx="1861196" cy="86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066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8930" y="265235"/>
            <a:ext cx="10515600" cy="1325563"/>
          </a:xfrm>
        </p:spPr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8930" y="1027906"/>
            <a:ext cx="10515600" cy="4115530"/>
          </a:xfrm>
        </p:spPr>
        <p:txBody>
          <a:bodyPr>
            <a:normAutofit/>
          </a:bodyPr>
          <a:lstStyle/>
          <a:p>
            <a:endParaRPr lang="en-US" dirty="0"/>
          </a:p>
          <a:p>
            <a:pPr algn="just"/>
            <a:r>
              <a:rPr lang="en-US" dirty="0"/>
              <a:t>Influential Node Detection</a:t>
            </a:r>
          </a:p>
          <a:p>
            <a:endParaRPr lang="en-US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3</a:t>
            </a:fld>
            <a:endParaRPr lang="en-US" sz="1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043" y="78543"/>
            <a:ext cx="1861196" cy="8669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53FE1F-1B1F-62AA-A56C-E67FA86ABF9D}"/>
              </a:ext>
            </a:extLst>
          </p:cNvPr>
          <p:cNvSpPr txBox="1"/>
          <p:nvPr/>
        </p:nvSpPr>
        <p:spPr>
          <a:xfrm>
            <a:off x="838200" y="2153690"/>
            <a:ext cx="10770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Complex systems such as social, biological, financial, and transportation networks are modeled as graphs. In complex networks, not all nodes contribute equally.</a:t>
            </a:r>
            <a:endParaRPr lang="en-IN" sz="2400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9731F5A-B4F1-24B5-97AE-7D03CCFEA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999872"/>
            <a:ext cx="9061174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Some nodes play a critical role in: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Information diffusion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Epidemic spreading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Network stability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n-US" altLang="en-US" sz="2400" dirty="0"/>
              <a:t>Chain-Reaction Effects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Identifying these critical nodes is known as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Influential Node Detection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A67B55-6E36-A4BC-1CB3-7A8E90D7E3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1443" y="2999872"/>
            <a:ext cx="5608287" cy="2629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876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D9C3B-6E15-072E-7DC1-A8DC81B6B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89A16-38A2-5D1C-494F-C86D84866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930" y="265235"/>
            <a:ext cx="10515600" cy="1325563"/>
          </a:xfrm>
        </p:spPr>
        <p:txBody>
          <a:bodyPr/>
          <a:lstStyle/>
          <a:p>
            <a:pPr algn="just"/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E2AC0-BBFF-D589-F3D3-4411308CA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930" y="846931"/>
            <a:ext cx="10515600" cy="4115530"/>
          </a:xfrm>
        </p:spPr>
        <p:txBody>
          <a:bodyPr>
            <a:normAutofit/>
          </a:bodyPr>
          <a:lstStyle/>
          <a:p>
            <a:pPr algn="just"/>
            <a:endParaRPr lang="en-US" dirty="0"/>
          </a:p>
          <a:p>
            <a:pPr algn="just"/>
            <a:r>
              <a:rPr lang="en-US" dirty="0"/>
              <a:t>Why Efficient Influential Node Detection is Important?</a:t>
            </a:r>
            <a:endParaRPr lang="en-IN" sz="140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C4ECFC1-8AE9-AE47-A6EE-ADD921EFC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just"/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B5A9BF6-2E4A-946D-B8D3-9DE71EE8B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just"/>
            <a:fld id="{F193F5E7-1286-4B25-AAA4-07DE12CCF392}" type="slidenum">
              <a:rPr lang="en-US" sz="1600" smtClean="0"/>
              <a:pPr algn="just"/>
              <a:t>4</a:t>
            </a:fld>
            <a:endParaRPr lang="en-US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C8FE36-C8DF-D28F-9FBB-A5C2EAA0501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043" y="78543"/>
            <a:ext cx="1861196" cy="8669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45426E5-CEE1-B343-0735-3AF1F9E0CA24}"/>
              </a:ext>
            </a:extLst>
          </p:cNvPr>
          <p:cNvSpPr txBox="1"/>
          <p:nvPr/>
        </p:nvSpPr>
        <p:spPr>
          <a:xfrm>
            <a:off x="838199" y="1933595"/>
            <a:ext cx="10770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Real-world networks are </a:t>
            </a:r>
            <a:r>
              <a:rPr lang="en-US" sz="2400" b="1" dirty="0"/>
              <a:t>large and complex.</a:t>
            </a:r>
          </a:p>
          <a:p>
            <a:pPr algn="just"/>
            <a:r>
              <a:rPr lang="en-US" sz="2400" dirty="0"/>
              <a:t>Simulating diffusion from every node requires </a:t>
            </a:r>
            <a:r>
              <a:rPr lang="en-US" sz="2400" b="1" dirty="0"/>
              <a:t>heavy computation </a:t>
            </a:r>
            <a:r>
              <a:rPr lang="en-US" sz="2400" dirty="0"/>
              <a:t>in large networks.</a:t>
            </a:r>
            <a:endParaRPr lang="en-IN" sz="2400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8D5D26C-C54D-9A4B-2B65-1ED519F21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2904696"/>
            <a:ext cx="9250018" cy="2646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dirty="0"/>
              <a:t>Accurate identification enables:</a:t>
            </a:r>
          </a:p>
          <a:p>
            <a:pPr algn="just"/>
            <a:endParaRPr lang="en-US" sz="1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Targeted vaccination strategies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Effective viral marketing campaigns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Efficient resource allocation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/>
              <a:t>Therefore, designing efficient influential node detection methods is a critical research problem in network science.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45913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CD76D-0A60-439B-A7FD-6797654EF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22864-9990-1F14-AC5E-81581D968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041" y="136525"/>
            <a:ext cx="10515600" cy="1325563"/>
          </a:xfrm>
        </p:spPr>
        <p:txBody>
          <a:bodyPr/>
          <a:lstStyle/>
          <a:p>
            <a:pPr algn="just"/>
            <a:r>
              <a:rPr lang="en-IN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727BE-FC1A-CA1D-3F40-270811A76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495" y="1451112"/>
            <a:ext cx="11191461" cy="512418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/>
              <a:t>Efficient influential node detection is crucial because a small number of nodes often control information spread, epidemic diffusion, and network stability in real-world systems. </a:t>
            </a:r>
          </a:p>
          <a:p>
            <a:pPr marL="0" indent="0" algn="just">
              <a:buNone/>
            </a:pPr>
            <a:r>
              <a:rPr lang="en-US" sz="2400" dirty="0"/>
              <a:t>In traditional centrality measures capture only limited structural aspects and often ignore edge weights[1]. Moreover, many existing Graph convolutional network-based approaches are primarily designed for unweighted networks [2],[3],[7].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7558F71-5DB2-A1FA-37E5-5FF1717F0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just"/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72ACAF7-B5C1-8D6A-AB1A-495691574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just"/>
            <a:fld id="{F193F5E7-1286-4B25-AAA4-07DE12CCF392}" type="slidenum">
              <a:rPr lang="en-US" sz="1600" smtClean="0"/>
              <a:pPr algn="just"/>
              <a:t>5</a:t>
            </a:fld>
            <a:endParaRPr lang="en-US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7B75C6-9914-60B4-F76C-9EF9DF21605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043" y="78543"/>
            <a:ext cx="1861196" cy="8669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CD37C60-6359-95DA-A536-4A7CE0821263}"/>
              </a:ext>
            </a:extLst>
          </p:cNvPr>
          <p:cNvSpPr txBox="1"/>
          <p:nvPr/>
        </p:nvSpPr>
        <p:spPr>
          <a:xfrm>
            <a:off x="735493" y="3868428"/>
            <a:ext cx="445955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/>
              <a:t>Limitation 1: Centrality-only methods [1],[7].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800" b="1" dirty="0"/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 Cannot capture multi-scale influence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 Either local or global</a:t>
            </a:r>
          </a:p>
          <a:p>
            <a:pPr algn="just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C175F7-54C4-96DC-DA58-CCFEC62514AF}"/>
              </a:ext>
            </a:extLst>
          </p:cNvPr>
          <p:cNvSpPr txBox="1"/>
          <p:nvPr/>
        </p:nvSpPr>
        <p:spPr>
          <a:xfrm>
            <a:off x="735494" y="5160229"/>
            <a:ext cx="642068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/>
              <a:t>Limitation 2: Many works focus on unweighted graphs [2], [3].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800" b="1" dirty="0"/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 Edge strength often ignored </a:t>
            </a:r>
          </a:p>
          <a:p>
            <a:pPr algn="just"/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84AB2D-9259-3467-7E07-1BC4EEC954FD}"/>
              </a:ext>
            </a:extLst>
          </p:cNvPr>
          <p:cNvSpPr txBox="1"/>
          <p:nvPr/>
        </p:nvSpPr>
        <p:spPr>
          <a:xfrm>
            <a:off x="5966354" y="3868428"/>
            <a:ext cx="3614451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b="1" dirty="0"/>
              <a:t>Limitation 3: Robustness Issues [4].</a:t>
            </a:r>
          </a:p>
          <a:p>
            <a:pPr algn="just"/>
            <a:endParaRPr lang="en-US" sz="800" b="1" dirty="0"/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 </a:t>
            </a:r>
            <a:r>
              <a:rPr lang="en-US" dirty="0"/>
              <a:t>GNN sensitive to topology changes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5176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293" y="136525"/>
            <a:ext cx="10515600" cy="1325563"/>
          </a:xfrm>
        </p:spPr>
        <p:txBody>
          <a:bodyPr/>
          <a:lstStyle/>
          <a:p>
            <a:r>
              <a:rPr lang="en-IN" dirty="0"/>
              <a:t>Motivation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6</a:t>
            </a:fld>
            <a:endParaRPr lang="en-US" sz="1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043" y="78543"/>
            <a:ext cx="1861196" cy="86694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BA10559F-255A-91F2-1FC4-4905A81205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879910"/>
            <a:ext cx="8047383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2D6B6C-9D29-749B-5440-8F6E8952D60A}"/>
              </a:ext>
            </a:extLst>
          </p:cNvPr>
          <p:cNvSpPr txBox="1"/>
          <p:nvPr/>
        </p:nvSpPr>
        <p:spPr>
          <a:xfrm>
            <a:off x="641060" y="1198018"/>
            <a:ext cx="9476975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Since real-world networks are inherently weighted, there is a strong need for efficient and robust influential node detection methods that incorporate edge strength information.</a:t>
            </a:r>
            <a:endParaRPr lang="en-IN" sz="2000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94ABC2-B2EA-6FAA-1173-FC79DE779E3A}"/>
              </a:ext>
            </a:extLst>
          </p:cNvPr>
          <p:cNvSpPr txBox="1"/>
          <p:nvPr/>
        </p:nvSpPr>
        <p:spPr>
          <a:xfrm>
            <a:off x="638595" y="1996458"/>
            <a:ext cx="5811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Why Use GCN for Influential Node Detection?</a:t>
            </a:r>
            <a:endParaRPr lang="en-IN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BCA271-708F-7EF5-19E8-A4CA03F240CC}"/>
              </a:ext>
            </a:extLst>
          </p:cNvPr>
          <p:cNvSpPr txBox="1"/>
          <p:nvPr/>
        </p:nvSpPr>
        <p:spPr>
          <a:xfrm>
            <a:off x="638595" y="2562316"/>
            <a:ext cx="545740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b="1" dirty="0"/>
              <a:t>Captures Structural Dependencies [6].</a:t>
            </a:r>
          </a:p>
          <a:p>
            <a:pPr marL="342900" indent="-342900">
              <a:buAutoNum type="arabicParenR"/>
            </a:pPr>
            <a:endParaRPr lang="en-US" sz="8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GCN aggregates information from node neighborhoods.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Learns both local and global structural patterns.</a:t>
            </a:r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7CFCDB-253D-01B1-0BC5-D752BF876E3C}"/>
              </a:ext>
            </a:extLst>
          </p:cNvPr>
          <p:cNvSpPr txBox="1"/>
          <p:nvPr/>
        </p:nvSpPr>
        <p:spPr>
          <a:xfrm>
            <a:off x="604212" y="4143837"/>
            <a:ext cx="5329449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 startAt="3"/>
            </a:pPr>
            <a:r>
              <a:rPr lang="en-US" b="1" dirty="0"/>
              <a:t>Proven Effectiveness in Node Influence Tasks.</a:t>
            </a:r>
          </a:p>
          <a:p>
            <a:pPr marL="342900" indent="-342900">
              <a:buAutoNum type="arabicParenR" startAt="3"/>
            </a:pPr>
            <a:endParaRPr lang="en-US" sz="8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Hybrid centrality + GCN improves influence prediction [4].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Structural equivalence + GCN improves node ranking [3].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CNN-GNN hybrid enhances influence modelling [2].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2A0D79-7E8B-F239-5013-6FE1DE995FB1}"/>
              </a:ext>
            </a:extLst>
          </p:cNvPr>
          <p:cNvSpPr txBox="1"/>
          <p:nvPr/>
        </p:nvSpPr>
        <p:spPr>
          <a:xfrm>
            <a:off x="6381764" y="2582375"/>
            <a:ext cx="554479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 startAt="2"/>
            </a:pPr>
            <a:r>
              <a:rPr lang="en-US" b="1" dirty="0"/>
              <a:t>Overcomes Limitations of Centrality Measures [1].</a:t>
            </a:r>
          </a:p>
          <a:p>
            <a:pPr marL="342900" indent="-342900">
              <a:buAutoNum type="arabicParenR" startAt="2"/>
            </a:pPr>
            <a:endParaRPr lang="en-US" sz="8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Centrality methods rely on fixed mathematical formulations.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GCN learns influence patterns automatically from data.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6437E7-B706-E5D9-A5BF-E111CCF833CB}"/>
              </a:ext>
            </a:extLst>
          </p:cNvPr>
          <p:cNvSpPr txBox="1"/>
          <p:nvPr/>
        </p:nvSpPr>
        <p:spPr>
          <a:xfrm>
            <a:off x="6381764" y="4143837"/>
            <a:ext cx="49720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 startAt="4"/>
            </a:pPr>
            <a:r>
              <a:rPr lang="en-IN" b="1" dirty="0"/>
              <a:t>Scalable &amp; Representation Learning-Based [6].</a:t>
            </a:r>
          </a:p>
          <a:p>
            <a:pPr marL="342900" indent="-342900">
              <a:buAutoNum type="arabicParenR" startAt="4"/>
            </a:pPr>
            <a:endParaRPr lang="en-IN" sz="8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Learns low-dimensional embeddings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Handles large complex networks efficiently.</a:t>
            </a:r>
          </a:p>
        </p:txBody>
      </p:sp>
    </p:spTree>
    <p:extLst>
      <p:ext uri="{BB962C8B-B14F-4D97-AF65-F5344CB8AC3E}">
        <p14:creationId xmlns:p14="http://schemas.microsoft.com/office/powerpoint/2010/main" val="205549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24E63-4FA1-83A9-67A5-0A4A0257C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667E8-D634-9DC7-5FB7-F35DCDA81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041" y="0"/>
            <a:ext cx="10515600" cy="1325563"/>
          </a:xfrm>
        </p:spPr>
        <p:txBody>
          <a:bodyPr/>
          <a:lstStyle/>
          <a:p>
            <a:pPr algn="just"/>
            <a:r>
              <a:rPr lang="en-IN" dirty="0"/>
              <a:t>Literature Review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AF9E318C-A3A9-8A70-992A-E8DD4F1CE5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605974"/>
              </p:ext>
            </p:extLst>
          </p:nvPr>
        </p:nvGraphicFramePr>
        <p:xfrm>
          <a:off x="496957" y="1192696"/>
          <a:ext cx="11353798" cy="43310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3078">
                  <a:extLst>
                    <a:ext uri="{9D8B030D-6E8A-4147-A177-3AD203B41FA5}">
                      <a16:colId xmlns:a16="http://schemas.microsoft.com/office/drawing/2014/main" val="1481889781"/>
                    </a:ext>
                  </a:extLst>
                </a:gridCol>
                <a:gridCol w="2246243">
                  <a:extLst>
                    <a:ext uri="{9D8B030D-6E8A-4147-A177-3AD203B41FA5}">
                      <a16:colId xmlns:a16="http://schemas.microsoft.com/office/drawing/2014/main" val="1954194467"/>
                    </a:ext>
                  </a:extLst>
                </a:gridCol>
                <a:gridCol w="3230568">
                  <a:extLst>
                    <a:ext uri="{9D8B030D-6E8A-4147-A177-3AD203B41FA5}">
                      <a16:colId xmlns:a16="http://schemas.microsoft.com/office/drawing/2014/main" val="1914846330"/>
                    </a:ext>
                  </a:extLst>
                </a:gridCol>
                <a:gridCol w="3113909">
                  <a:extLst>
                    <a:ext uri="{9D8B030D-6E8A-4147-A177-3AD203B41FA5}">
                      <a16:colId xmlns:a16="http://schemas.microsoft.com/office/drawing/2014/main" val="4171822131"/>
                    </a:ext>
                  </a:extLst>
                </a:gridCol>
              </a:tblGrid>
              <a:tr h="53671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Paper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Method Type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Key Idea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Limitation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3566921"/>
                  </a:ext>
                </a:extLst>
              </a:tr>
              <a:tr h="1264723">
                <a:tc>
                  <a:txBody>
                    <a:bodyPr/>
                    <a:lstStyle/>
                    <a:p>
                      <a:r>
                        <a:rPr lang="en-US" dirty="0"/>
                        <a:t>Detection of Influential Nodes Using Network Metrics [5]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Centrality-Based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Uses Degree, Closeness, PageRank, Eigenvector for influence detection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Purely structural, no learning mechanism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5559944"/>
                  </a:ext>
                </a:extLst>
              </a:tr>
              <a:tr h="1264723">
                <a:tc>
                  <a:txBody>
                    <a:bodyPr/>
                    <a:lstStyle/>
                    <a:p>
                      <a:r>
                        <a:rPr lang="en-US" dirty="0"/>
                        <a:t>Comparative Analysis of Centrality Measures (GDK) [1]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Hybrid Centrality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Combines Global Structure Model + Degree + K-shell (GDK)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Not learning-based, limited scalability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1824952"/>
                  </a:ext>
                </a:extLst>
              </a:tr>
              <a:tr h="1264867">
                <a:tc>
                  <a:txBody>
                    <a:bodyPr/>
                    <a:lstStyle/>
                    <a:p>
                      <a:r>
                        <a:rPr lang="en-US" dirty="0"/>
                        <a:t>Key Node Identification based on Hybrid Centrality and GNN (NLGCN) [4]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GCN-Based (Hybrid)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Combines mixed centrality features with GCN; multi-channel + attention mechanism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Designed mainly for unweighted graphs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39910"/>
                  </a:ext>
                </a:extLst>
              </a:tr>
            </a:tbl>
          </a:graphicData>
        </a:graphic>
      </p:graphicFrame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2620B7-DFDC-B4FE-E8C0-58E55D3EB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86471" y="6356349"/>
            <a:ext cx="4114800" cy="365125"/>
          </a:xfrm>
        </p:spPr>
        <p:txBody>
          <a:bodyPr/>
          <a:lstStyle/>
          <a:p>
            <a:pPr algn="just"/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8A84577-3233-AC98-1EDF-E1A8C9587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3639" y="6356349"/>
            <a:ext cx="2743200" cy="365125"/>
          </a:xfrm>
        </p:spPr>
        <p:txBody>
          <a:bodyPr/>
          <a:lstStyle/>
          <a:p>
            <a:pPr algn="just"/>
            <a:fld id="{F193F5E7-1286-4B25-AAA4-07DE12CCF392}" type="slidenum">
              <a:rPr lang="en-US" sz="1600" smtClean="0"/>
              <a:pPr algn="just"/>
              <a:t>7</a:t>
            </a:fld>
            <a:endParaRPr lang="en-US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D06952-AF05-7030-95B0-89F8E722BD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043" y="78543"/>
            <a:ext cx="1861196" cy="86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961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6649A-DF47-6AA7-CF10-4C82555CD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26F35-2145-DB6F-A2D6-0D345CCC5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041" y="0"/>
            <a:ext cx="10515600" cy="1325563"/>
          </a:xfrm>
        </p:spPr>
        <p:txBody>
          <a:bodyPr/>
          <a:lstStyle/>
          <a:p>
            <a:r>
              <a:rPr lang="en-IN" dirty="0"/>
              <a:t>Literature Review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16A84DEE-ACE0-ED44-23C8-27432E42BF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8484912"/>
              </p:ext>
            </p:extLst>
          </p:nvPr>
        </p:nvGraphicFramePr>
        <p:xfrm>
          <a:off x="526774" y="1158270"/>
          <a:ext cx="11390243" cy="49268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2299">
                  <a:extLst>
                    <a:ext uri="{9D8B030D-6E8A-4147-A177-3AD203B41FA5}">
                      <a16:colId xmlns:a16="http://schemas.microsoft.com/office/drawing/2014/main" val="1481889781"/>
                    </a:ext>
                  </a:extLst>
                </a:gridCol>
                <a:gridCol w="2791570">
                  <a:extLst>
                    <a:ext uri="{9D8B030D-6E8A-4147-A177-3AD203B41FA5}">
                      <a16:colId xmlns:a16="http://schemas.microsoft.com/office/drawing/2014/main" val="1954194467"/>
                    </a:ext>
                  </a:extLst>
                </a:gridCol>
                <a:gridCol w="3149033">
                  <a:extLst>
                    <a:ext uri="{9D8B030D-6E8A-4147-A177-3AD203B41FA5}">
                      <a16:colId xmlns:a16="http://schemas.microsoft.com/office/drawing/2014/main" val="1914846330"/>
                    </a:ext>
                  </a:extLst>
                </a:gridCol>
                <a:gridCol w="2617341">
                  <a:extLst>
                    <a:ext uri="{9D8B030D-6E8A-4147-A177-3AD203B41FA5}">
                      <a16:colId xmlns:a16="http://schemas.microsoft.com/office/drawing/2014/main" val="4171822131"/>
                    </a:ext>
                  </a:extLst>
                </a:gridCol>
              </a:tblGrid>
              <a:tr h="59357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Paper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Method Type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Key Idea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Limitation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3566921"/>
                  </a:ext>
                </a:extLst>
              </a:tr>
              <a:tr h="1138552">
                <a:tc>
                  <a:txBody>
                    <a:bodyPr/>
                    <a:lstStyle/>
                    <a:p>
                      <a:r>
                        <a:rPr lang="en-IN" dirty="0"/>
                        <a:t>SE_GCN: Structural Equivalent Key Nodes Identification [3]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GCN-Based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Uses structural equivalence features with GCN for node ranking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Binary adjacency assumption (unweighted)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5559944"/>
                  </a:ext>
                </a:extLst>
              </a:tr>
              <a:tr h="995804">
                <a:tc>
                  <a:txBody>
                    <a:bodyPr/>
                    <a:lstStyle/>
                    <a:p>
                      <a:r>
                        <a:rPr lang="en-IN" dirty="0"/>
                        <a:t>Hybrid CNN-GNN (CGCAN) [2]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Deep Learning (CNN + GCN)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Combines CNN-based neighborhood encoding with GCN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Uses unweighted adjacency matrix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1824952"/>
                  </a:ext>
                </a:extLst>
              </a:tr>
              <a:tr h="1010191">
                <a:tc>
                  <a:txBody>
                    <a:bodyPr/>
                    <a:lstStyle/>
                    <a:p>
                      <a:r>
                        <a:rPr lang="en-US" dirty="0"/>
                        <a:t>Graph Convolutional Networks: A Comprehensive Review [6]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Theoretical 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Explains spectral &amp; spatial GCN models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specific to influence detection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39910"/>
                  </a:ext>
                </a:extLst>
              </a:tr>
              <a:tr h="1109859">
                <a:tc>
                  <a:txBody>
                    <a:bodyPr/>
                    <a:lstStyle/>
                    <a:p>
                      <a:r>
                        <a:rPr lang="en-US" dirty="0"/>
                        <a:t>Identifying Influential Nodes in Complex Networks [7].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Centrality-Based Method (Semi-Local / Local Centrality Measure) 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Proposes a semi-local centrality measure that considers nearest neighbors to balance accuracy and efficiency.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Designed for undirected networks. </a:t>
                      </a:r>
                      <a:r>
                        <a:rPr lang="en-US" dirty="0"/>
                        <a:t>Does not incorporate edge weights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9441374"/>
                  </a:ext>
                </a:extLst>
              </a:tr>
            </a:tbl>
          </a:graphicData>
        </a:graphic>
      </p:graphicFrame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C7CDB07-2DE1-FA27-5348-2DFB54514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Indian Institute of Information Technology Kottayam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384582-4978-DDBB-FB68-E5FBD8949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8</a:t>
            </a:fld>
            <a:endParaRPr lang="en-US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15D861-738D-4E0E-29C7-D503CCAE19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043" y="78543"/>
            <a:ext cx="1861196" cy="86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532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148" y="365125"/>
            <a:ext cx="10515600" cy="1325563"/>
          </a:xfrm>
        </p:spPr>
        <p:txBody>
          <a:bodyPr/>
          <a:lstStyle/>
          <a:p>
            <a:r>
              <a:rPr lang="en-IN" dirty="0"/>
              <a:t>Research Gaps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9</a:t>
            </a:fld>
            <a:endParaRPr lang="en-US" sz="1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043" y="78543"/>
            <a:ext cx="1861196" cy="86694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1A851F49-29C7-3666-C9ED-098169A5B5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2122" y="1490480"/>
            <a:ext cx="10611678" cy="4662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Based on literature:</a:t>
            </a:r>
            <a:endParaRPr lang="en-US" alt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Most models designed for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unweighted graphs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Adjacency defined as binary</a:t>
            </a:r>
            <a:r>
              <a:rPr lang="en-US" altLang="en-US" dirty="0"/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[2],[3],[7].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2. Hybrid centrality methods exist,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but integration with weighted structural learning is limited [4].  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dirty="0"/>
              <a:t>3. Limited exploration of </a:t>
            </a:r>
            <a:r>
              <a:rPr lang="en-US" altLang="en-US" sz="2400" b="1" dirty="0"/>
              <a:t>edge-weight-aware graph convolution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Lack of comparative study for weighted influence modeling.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Gap: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 dedicated weighted-GCN framework for influential node detection.</a:t>
            </a:r>
          </a:p>
        </p:txBody>
      </p:sp>
    </p:spTree>
    <p:extLst>
      <p:ext uri="{BB962C8B-B14F-4D97-AF65-F5344CB8AC3E}">
        <p14:creationId xmlns:p14="http://schemas.microsoft.com/office/powerpoint/2010/main" val="3535158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IN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Design a learning-based framework to: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Identify influential nodes</a:t>
            </a:r>
          </a:p>
          <a:p>
            <a:pPr algn="just"/>
            <a:r>
              <a:rPr lang="en-US" dirty="0"/>
              <a:t>In weighted complex networks</a:t>
            </a:r>
          </a:p>
          <a:p>
            <a:pPr algn="just"/>
            <a:r>
              <a:rPr lang="en-US" dirty="0"/>
              <a:t>Using Graph Convolutional Networks</a:t>
            </a:r>
          </a:p>
          <a:p>
            <a:pPr algn="just"/>
            <a:r>
              <a:rPr lang="en-US" dirty="0"/>
              <a:t>While leveraging edge-weight information effectively</a:t>
            </a:r>
          </a:p>
          <a:p>
            <a:pPr algn="just"/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just"/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just"/>
            <a:fld id="{F193F5E7-1286-4B25-AAA4-07DE12CCF392}" type="slidenum">
              <a:rPr lang="en-US" sz="1600" smtClean="0"/>
              <a:pPr algn="just"/>
              <a:t>10</a:t>
            </a:fld>
            <a:endParaRPr lang="en-US" sz="1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043" y="78543"/>
            <a:ext cx="1861196" cy="86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340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IN" dirty="0"/>
              <a:t>Objectives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just"/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just"/>
            <a:fld id="{F193F5E7-1286-4B25-AAA4-07DE12CCF392}" type="slidenum">
              <a:rPr lang="en-US" sz="1600" smtClean="0"/>
              <a:pPr algn="just"/>
              <a:t>11</a:t>
            </a:fld>
            <a:endParaRPr lang="en-US" sz="1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043" y="78543"/>
            <a:ext cx="1861196" cy="86694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132F692B-35D8-7655-75E9-155CF40CAB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1722325"/>
            <a:ext cx="10800523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develop a learning-based framework for identifying influential nodes in weighted complex networks.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incorporate edge-weight information into graph convolution operations to capture structural dependencies effectively.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model multi-scale influence patterns by integrating both local and global structural features.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evaluate the proposed approach against traditional centrality measures using ranking correlation and diffusion-based validation metrics.</a:t>
            </a:r>
          </a:p>
        </p:txBody>
      </p:sp>
    </p:spTree>
    <p:extLst>
      <p:ext uri="{BB962C8B-B14F-4D97-AF65-F5344CB8AC3E}">
        <p14:creationId xmlns:p14="http://schemas.microsoft.com/office/powerpoint/2010/main" val="1665388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041" y="500062"/>
            <a:ext cx="10515600" cy="1325563"/>
          </a:xfrm>
        </p:spPr>
        <p:txBody>
          <a:bodyPr/>
          <a:lstStyle/>
          <a:p>
            <a:pPr algn="just"/>
            <a:r>
              <a:rPr lang="en-IN" dirty="0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9041" y="1825625"/>
            <a:ext cx="5384133" cy="4115530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cs typeface="Arial" panose="020B0604020202020204" pitchFamily="34" charset="0"/>
              </a:rPr>
              <a:t>Step 1: Data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cs typeface="Arial" panose="020B0604020202020204" pitchFamily="34" charset="0"/>
              </a:rPr>
              <a:t>Weighted adjacency matrix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cs typeface="Arial" panose="020B0604020202020204" pitchFamily="34" charset="0"/>
              </a:rPr>
              <a:t>Node feature extraction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100" b="1" dirty="0"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cs typeface="Arial" panose="020B0604020202020204" pitchFamily="34" charset="0"/>
              </a:rPr>
              <a:t>Step 2: Feature Design [4]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cs typeface="Arial" panose="020B0604020202020204" pitchFamily="34" charset="0"/>
              </a:rPr>
              <a:t>Weighted degree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cs typeface="Arial" panose="020B0604020202020204" pitchFamily="34" charset="0"/>
              </a:rPr>
              <a:t>Weighted local-global metrics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100" b="1" dirty="0"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cs typeface="Arial" panose="020B0604020202020204" pitchFamily="34" charset="0"/>
              </a:rPr>
              <a:t>Step 3: Weighted GCN Layer [6]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cs typeface="Arial" panose="020B0604020202020204" pitchFamily="34" charset="0"/>
              </a:rPr>
              <a:t>Modify adjacency normalization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cs typeface="Arial" panose="020B0604020202020204" pitchFamily="34" charset="0"/>
              </a:rPr>
              <a:t>Incorporate edge weights  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just"/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just"/>
            <a:fld id="{F193F5E7-1286-4B25-AAA4-07DE12CCF392}" type="slidenum">
              <a:rPr lang="en-US" sz="1600" smtClean="0"/>
              <a:pPr algn="just"/>
              <a:t>12</a:t>
            </a:fld>
            <a:endParaRPr lang="en-US" sz="1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043" y="78543"/>
            <a:ext cx="1861196" cy="86694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070FDDF-8FA7-14EB-0151-DDCAD5A4146B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384133" cy="4115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2400" b="1" dirty="0">
                <a:cs typeface="Arial" panose="020B0604020202020204" pitchFamily="34" charset="0"/>
              </a:rPr>
              <a:t>Step 4: Influence Prediction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cs typeface="Arial" panose="020B0604020202020204" pitchFamily="34" charset="0"/>
              </a:rPr>
              <a:t>Fully connected regression layer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100" b="1" dirty="0">
              <a:cs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2400" b="1" dirty="0">
                <a:cs typeface="Arial" panose="020B0604020202020204" pitchFamily="34" charset="0"/>
              </a:rPr>
              <a:t>Step 5: Evaluation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cs typeface="Arial" panose="020B0604020202020204" pitchFamily="34" charset="0"/>
              </a:rPr>
              <a:t>Kendall Tau Correlation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cs typeface="Arial" panose="020B0604020202020204" pitchFamily="34" charset="0"/>
              </a:rPr>
              <a:t>SIR Model comparison</a:t>
            </a:r>
          </a:p>
        </p:txBody>
      </p:sp>
    </p:spTree>
    <p:extLst>
      <p:ext uri="{BB962C8B-B14F-4D97-AF65-F5344CB8AC3E}">
        <p14:creationId xmlns:p14="http://schemas.microsoft.com/office/powerpoint/2010/main" val="14627022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11B32-CAC3-CFEB-01D9-E326763F5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4E8FD-E687-A533-8955-4178A6041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015" y="136525"/>
            <a:ext cx="10515600" cy="1325563"/>
          </a:xfrm>
        </p:spPr>
        <p:txBody>
          <a:bodyPr/>
          <a:lstStyle/>
          <a:p>
            <a:r>
              <a:rPr lang="en-IN" dirty="0"/>
              <a:t>Architecture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CED7676-C669-5AEC-AD14-31A5F2E05C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36592" y="1199508"/>
            <a:ext cx="9761349" cy="4458984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40C707A-D590-B2B0-BF44-D93EE310C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51E8992-2231-60E6-AE3E-E590D441A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13</a:t>
            </a:fld>
            <a:endParaRPr lang="en-US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6AE1E8-A9CD-E7C9-EEF1-EA31806038A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043" y="78543"/>
            <a:ext cx="1861196" cy="8669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4B559EC-310C-C001-B528-5588473F6CC1}"/>
              </a:ext>
            </a:extLst>
          </p:cNvPr>
          <p:cNvSpPr txBox="1"/>
          <p:nvPr/>
        </p:nvSpPr>
        <p:spPr>
          <a:xfrm>
            <a:off x="2898971" y="5838144"/>
            <a:ext cx="63940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/>
              <a:t>Basic Framework of </a:t>
            </a:r>
            <a:r>
              <a:rPr lang="en-US" sz="1600" dirty="0"/>
              <a:t>Neighborhood Local Graph Convolutional Network</a:t>
            </a:r>
            <a:r>
              <a:rPr lang="en-IN" sz="1600" dirty="0"/>
              <a:t> </a:t>
            </a:r>
            <a:r>
              <a:rPr lang="en-US" sz="1600" dirty="0"/>
              <a:t>[4].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1401995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0513" y="0"/>
            <a:ext cx="10515600" cy="1325563"/>
          </a:xfrm>
        </p:spPr>
        <p:txBody>
          <a:bodyPr/>
          <a:lstStyle/>
          <a:p>
            <a:r>
              <a:rPr lang="en-IN" dirty="0"/>
              <a:t>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22939"/>
            <a:ext cx="10515600" cy="4612122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14</a:t>
            </a:fld>
            <a:endParaRPr lang="en-US" sz="1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043" y="78543"/>
            <a:ext cx="1861196" cy="8669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036DB4-DBD7-2210-B540-ABC20BE6AE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469" y="945483"/>
            <a:ext cx="9521688" cy="549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302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12013"/>
            <a:ext cx="10515600" cy="1325563"/>
          </a:xfrm>
        </p:spPr>
        <p:txBody>
          <a:bodyPr/>
          <a:lstStyle/>
          <a:p>
            <a:pPr algn="just"/>
            <a:r>
              <a:rPr lang="en-IN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317" y="1462317"/>
            <a:ext cx="10989366" cy="5332325"/>
          </a:xfrm>
        </p:spPr>
        <p:txBody>
          <a:bodyPr>
            <a:normAutofit/>
          </a:bodyPr>
          <a:lstStyle/>
          <a:p>
            <a:pPr marL="0" indent="-457200" algn="just">
              <a:lnSpc>
                <a:spcPct val="60000"/>
              </a:lnSpc>
              <a:spcBef>
                <a:spcPts val="600"/>
              </a:spcBef>
              <a:buNone/>
            </a:pPr>
            <a:endParaRPr lang="en-US" sz="1800" dirty="0"/>
          </a:p>
          <a:p>
            <a:pPr marL="0" indent="-457200" algn="just">
              <a:lnSpc>
                <a:spcPct val="60000"/>
              </a:lnSpc>
              <a:spcBef>
                <a:spcPts val="600"/>
              </a:spcBef>
              <a:buNone/>
            </a:pPr>
            <a:endParaRPr lang="en-US" sz="1800" dirty="0"/>
          </a:p>
          <a:p>
            <a:pPr marL="0" indent="-457200" algn="just">
              <a:lnSpc>
                <a:spcPct val="60000"/>
              </a:lnSpc>
              <a:spcBef>
                <a:spcPts val="600"/>
              </a:spcBef>
              <a:buNone/>
            </a:pPr>
            <a:r>
              <a:rPr lang="en-US" sz="2000" dirty="0"/>
              <a:t>[1] M. Mukhtar et al., “Comparative analysis of networks' centrality measures with ANOVA,”</a:t>
            </a:r>
          </a:p>
          <a:p>
            <a:pPr marL="0" indent="-457200" algn="just">
              <a:lnSpc>
                <a:spcPct val="60000"/>
              </a:lnSpc>
              <a:spcBef>
                <a:spcPts val="600"/>
              </a:spcBef>
              <a:buNone/>
            </a:pPr>
            <a:r>
              <a:rPr lang="en-US" sz="2000" dirty="0"/>
              <a:t>      Mathematical Modeling and Computing, 2025.</a:t>
            </a:r>
          </a:p>
          <a:p>
            <a:pPr marL="0" indent="-457200" algn="just">
              <a:lnSpc>
                <a:spcPct val="60000"/>
              </a:lnSpc>
              <a:spcBef>
                <a:spcPts val="600"/>
              </a:spcBef>
              <a:buNone/>
            </a:pPr>
            <a:endParaRPr lang="en-US" sz="2000" dirty="0"/>
          </a:p>
          <a:p>
            <a:pPr marL="0" indent="-457200" algn="just">
              <a:lnSpc>
                <a:spcPct val="60000"/>
              </a:lnSpc>
              <a:spcBef>
                <a:spcPts val="600"/>
              </a:spcBef>
              <a:buNone/>
            </a:pPr>
            <a:r>
              <a:rPr lang="en-IN" sz="2000" dirty="0"/>
              <a:t>[2] D. Tu, F. Yang, X. Tang, J. Xie, and Z. Tao, “Identifying influential nodes in complex networks based on</a:t>
            </a:r>
          </a:p>
          <a:p>
            <a:pPr marL="0" indent="-457200" algn="just">
              <a:lnSpc>
                <a:spcPct val="60000"/>
              </a:lnSpc>
              <a:spcBef>
                <a:spcPts val="600"/>
              </a:spcBef>
              <a:buNone/>
            </a:pPr>
            <a:r>
              <a:rPr lang="en-IN" sz="2000" dirty="0"/>
              <a:t>      a hybrid CNN-GNN approach,” in Proc. 4th Int. Conf. Electronic Information Engineering, Big Data and</a:t>
            </a:r>
          </a:p>
          <a:p>
            <a:pPr marL="0" indent="-457200" algn="just">
              <a:lnSpc>
                <a:spcPct val="60000"/>
              </a:lnSpc>
              <a:spcBef>
                <a:spcPts val="600"/>
              </a:spcBef>
              <a:buNone/>
            </a:pPr>
            <a:r>
              <a:rPr lang="en-IN" sz="2000" dirty="0"/>
              <a:t>      Computer Technology (EIBDCT), Qingdao, China, 2025.</a:t>
            </a:r>
          </a:p>
          <a:p>
            <a:pPr indent="-457200" algn="just">
              <a:lnSpc>
                <a:spcPct val="60000"/>
              </a:lnSpc>
              <a:spcBef>
                <a:spcPts val="600"/>
              </a:spcBef>
            </a:pPr>
            <a:endParaRPr lang="en-IN" sz="2000" dirty="0"/>
          </a:p>
          <a:p>
            <a:pPr marL="0" indent="-457200" algn="just">
              <a:lnSpc>
                <a:spcPct val="60000"/>
              </a:lnSpc>
              <a:spcBef>
                <a:spcPts val="600"/>
              </a:spcBef>
              <a:buNone/>
            </a:pPr>
            <a:r>
              <a:rPr lang="en-IN" sz="2000" dirty="0"/>
              <a:t>[3] </a:t>
            </a:r>
            <a:r>
              <a:rPr lang="en-US" sz="2000" dirty="0"/>
              <a:t>A. Patel and B. Singh, “Graph convolutional network for structural equivalent key nodes identification</a:t>
            </a:r>
          </a:p>
          <a:p>
            <a:pPr marL="0" indent="-457200" algn="just">
              <a:lnSpc>
                <a:spcPct val="60000"/>
              </a:lnSpc>
              <a:spcBef>
                <a:spcPts val="600"/>
              </a:spcBef>
              <a:buNone/>
            </a:pPr>
            <a:r>
              <a:rPr lang="en-US" sz="2000" dirty="0"/>
              <a:t>      in complex networks,” Chaos, Solitons &amp; Fractals, vol. 196, 2025.</a:t>
            </a:r>
          </a:p>
          <a:p>
            <a:pPr marL="0" indent="-457200" algn="just">
              <a:lnSpc>
                <a:spcPct val="60000"/>
              </a:lnSpc>
              <a:spcBef>
                <a:spcPts val="600"/>
              </a:spcBef>
              <a:buNone/>
            </a:pPr>
            <a:endParaRPr lang="en-IN" altLang="en-US" sz="2000" dirty="0">
              <a:solidFill>
                <a:srgbClr val="1F1F1F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-457200" algn="just">
              <a:lnSpc>
                <a:spcPct val="60000"/>
              </a:lnSpc>
              <a:spcBef>
                <a:spcPts val="600"/>
              </a:spcBef>
              <a:buNone/>
            </a:pPr>
            <a:r>
              <a:rPr lang="en-US" sz="2000" dirty="0"/>
              <a:t>[4] F. Guo, B. Cao, J. Sun, et al., “Key node identification method based on hybrid centrality and graph</a:t>
            </a:r>
          </a:p>
          <a:p>
            <a:pPr marL="0" indent="-457200" algn="just">
              <a:lnSpc>
                <a:spcPct val="60000"/>
              </a:lnSpc>
              <a:spcBef>
                <a:spcPts val="600"/>
              </a:spcBef>
              <a:buNone/>
            </a:pPr>
            <a:r>
              <a:rPr lang="en-US" sz="2000" dirty="0"/>
              <a:t>      neural network,” Research Square, Preprint, Jan. 2026</a:t>
            </a:r>
            <a:endParaRPr lang="en-US" altLang="en-US" sz="2000" dirty="0">
              <a:solidFill>
                <a:srgbClr val="1F1F1F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60000"/>
              </a:lnSpc>
              <a:spcBef>
                <a:spcPts val="600"/>
              </a:spcBef>
              <a:buNone/>
            </a:pPr>
            <a:endParaRPr lang="en-IN" dirty="0"/>
          </a:p>
          <a:p>
            <a:pPr algn="just">
              <a:lnSpc>
                <a:spcPct val="60000"/>
              </a:lnSpc>
              <a:spcBef>
                <a:spcPts val="600"/>
              </a:spcBef>
            </a:pPr>
            <a:endParaRPr lang="en-IN" sz="3200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just"/>
            <a:r>
              <a:rPr lang="en-US" dirty="0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just"/>
            <a:fld id="{F193F5E7-1286-4B25-AAA4-07DE12CCF392}" type="slidenum">
              <a:rPr lang="en-US" sz="1600" smtClean="0"/>
              <a:pPr algn="just"/>
              <a:t>15</a:t>
            </a:fld>
            <a:endParaRPr lang="en-US" sz="1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043" y="78543"/>
            <a:ext cx="1861196" cy="86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3535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808C2-D1E7-B27B-D674-E14F527DC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FFED3-35B9-9399-A6EF-135F7FDAB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2013"/>
            <a:ext cx="10515600" cy="1325563"/>
          </a:xfrm>
        </p:spPr>
        <p:txBody>
          <a:bodyPr/>
          <a:lstStyle/>
          <a:p>
            <a:pPr algn="just"/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5F5E8-8CDB-D087-C337-B7288F0EB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316" y="1447132"/>
            <a:ext cx="11473923" cy="5332325"/>
          </a:xfrm>
        </p:spPr>
        <p:txBody>
          <a:bodyPr>
            <a:normAutofit/>
          </a:bodyPr>
          <a:lstStyle/>
          <a:p>
            <a:pPr marL="0" indent="-457200" algn="just">
              <a:lnSpc>
                <a:spcPct val="60000"/>
              </a:lnSpc>
              <a:spcBef>
                <a:spcPts val="600"/>
              </a:spcBef>
              <a:buNone/>
            </a:pPr>
            <a:endParaRPr lang="en-US" sz="2000" dirty="0"/>
          </a:p>
          <a:p>
            <a:pPr marL="0" indent="-457200" algn="just">
              <a:lnSpc>
                <a:spcPct val="60000"/>
              </a:lnSpc>
              <a:spcBef>
                <a:spcPts val="0"/>
              </a:spcBef>
              <a:buNone/>
            </a:pPr>
            <a:endParaRPr lang="en-US" sz="2000" dirty="0"/>
          </a:p>
          <a:p>
            <a:pPr marL="0" indent="-548640" algn="just">
              <a:spcBef>
                <a:spcPts val="0"/>
              </a:spcBef>
              <a:buNone/>
            </a:pPr>
            <a:r>
              <a:rPr lang="en-US" sz="2000" dirty="0"/>
              <a:t>[5] A. Farooq, G. J. Joyia, M. Uzair and U. Akram, "Detection of influential nodes using social networks</a:t>
            </a:r>
          </a:p>
          <a:p>
            <a:pPr marL="0" indent="-548640" algn="just">
              <a:spcBef>
                <a:spcPts val="0"/>
              </a:spcBef>
              <a:buNone/>
            </a:pPr>
            <a:r>
              <a:rPr lang="en-US" sz="2000" dirty="0"/>
              <a:t>      analysis based on network metrics," 2018 International Conference on Computing, Mathematics and</a:t>
            </a:r>
          </a:p>
          <a:p>
            <a:pPr marL="0" indent="-548640" algn="just">
              <a:spcBef>
                <a:spcPts val="0"/>
              </a:spcBef>
              <a:buNone/>
            </a:pPr>
            <a:r>
              <a:rPr lang="en-US" sz="2000" dirty="0"/>
              <a:t>      Engineering Technologies (</a:t>
            </a:r>
            <a:r>
              <a:rPr lang="en-US" sz="2000" dirty="0" err="1"/>
              <a:t>iCoMET</a:t>
            </a:r>
            <a:r>
              <a:rPr lang="en-US" sz="2000" dirty="0"/>
              <a:t>),2018. </a:t>
            </a:r>
          </a:p>
          <a:p>
            <a:pPr marL="0" indent="-548640" algn="just">
              <a:spcBef>
                <a:spcPts val="0"/>
              </a:spcBef>
              <a:buNone/>
            </a:pPr>
            <a:endParaRPr lang="en-US" sz="2000" dirty="0"/>
          </a:p>
          <a:p>
            <a:pPr marL="0" indent="-548640">
              <a:spcBef>
                <a:spcPts val="0"/>
              </a:spcBef>
              <a:buNone/>
            </a:pPr>
            <a:r>
              <a:rPr lang="en-US" sz="2000" dirty="0"/>
              <a:t>[6] </a:t>
            </a:r>
            <a:r>
              <a:rPr lang="en-IN" sz="2000" dirty="0"/>
              <a:t>Si Zhang1, </a:t>
            </a:r>
            <a:r>
              <a:rPr lang="en-IN" sz="2000" dirty="0" err="1"/>
              <a:t>Hanghang</a:t>
            </a:r>
            <a:r>
              <a:rPr lang="en-IN" sz="2000" dirty="0"/>
              <a:t> Tong, </a:t>
            </a:r>
            <a:r>
              <a:rPr lang="en-IN" sz="2000" dirty="0" err="1"/>
              <a:t>Jiejun</a:t>
            </a:r>
            <a:r>
              <a:rPr lang="en-IN" sz="2000" dirty="0"/>
              <a:t> Xu and Ross Maciejewski, </a:t>
            </a:r>
            <a:r>
              <a:rPr lang="en-US" sz="2000" dirty="0"/>
              <a:t>A. Comprehensive Review Paper </a:t>
            </a:r>
          </a:p>
          <a:p>
            <a:pPr marL="0" indent="-548640">
              <a:spcBef>
                <a:spcPts val="0"/>
              </a:spcBef>
              <a:buNone/>
            </a:pPr>
            <a:r>
              <a:rPr lang="en-US" sz="2000" dirty="0"/>
              <a:t>      (GCN Survey), “Graph Convolutional Networks: A Comprehensive Review,” </a:t>
            </a:r>
            <a:r>
              <a:rPr lang="en-IN" sz="2000" dirty="0" err="1"/>
              <a:t>Comput</a:t>
            </a:r>
            <a:r>
              <a:rPr lang="en-IN" sz="2000" dirty="0"/>
              <a:t> Soc </a:t>
            </a:r>
            <a:r>
              <a:rPr lang="en-IN" sz="2000" dirty="0" err="1"/>
              <a:t>Netw</a:t>
            </a:r>
            <a:r>
              <a:rPr lang="en-IN" sz="2000" dirty="0"/>
              <a:t>. 2019.</a:t>
            </a:r>
            <a:endParaRPr lang="en-US" sz="2000" dirty="0"/>
          </a:p>
          <a:p>
            <a:pPr marL="0" indent="-548640">
              <a:spcBef>
                <a:spcPts val="0"/>
              </a:spcBef>
              <a:buNone/>
            </a:pPr>
            <a:endParaRPr lang="en-US" sz="2000" dirty="0"/>
          </a:p>
          <a:p>
            <a:pPr marL="0" indent="-548640">
              <a:spcBef>
                <a:spcPts val="0"/>
              </a:spcBef>
              <a:buNone/>
            </a:pPr>
            <a:r>
              <a:rPr lang="en-US" sz="2000" dirty="0"/>
              <a:t>[7] D. Chen, L. </a:t>
            </a:r>
            <a:r>
              <a:rPr lang="en-US" sz="2000" dirty="0" err="1"/>
              <a:t>Lü</a:t>
            </a:r>
            <a:r>
              <a:rPr lang="en-US" sz="2000" dirty="0"/>
              <a:t>, M.-S. Shang, Y.-C. Zhang, and T. Zhou, “Identifying influential nodes in complex networks,”</a:t>
            </a:r>
          </a:p>
          <a:p>
            <a:pPr marL="0" indent="-548640">
              <a:spcBef>
                <a:spcPts val="0"/>
              </a:spcBef>
              <a:buNone/>
            </a:pPr>
            <a:r>
              <a:rPr lang="en-US" sz="2000" dirty="0"/>
              <a:t>      Physica A: Statistical Mechanics and its Applications, vol. 391, 2012.</a:t>
            </a:r>
            <a:endParaRPr lang="en-US" altLang="en-US" dirty="0">
              <a:solidFill>
                <a:srgbClr val="1F1F1F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60000"/>
              </a:lnSpc>
              <a:spcBef>
                <a:spcPts val="600"/>
              </a:spcBef>
              <a:buNone/>
            </a:pPr>
            <a:endParaRPr lang="en-IN" dirty="0"/>
          </a:p>
          <a:p>
            <a:pPr algn="just">
              <a:lnSpc>
                <a:spcPct val="60000"/>
              </a:lnSpc>
              <a:spcBef>
                <a:spcPts val="600"/>
              </a:spcBef>
            </a:pPr>
            <a:endParaRPr lang="en-IN" sz="320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48B81F7-A4BF-D0BA-BC6B-8561A515B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just"/>
            <a:r>
              <a:rPr lang="en-US" dirty="0"/>
              <a:t>Indian Institute of Information Technology Kottayam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74DCD7-2DBE-2B61-870B-7530DCABB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just"/>
            <a:fld id="{F193F5E7-1286-4B25-AAA4-07DE12CCF392}" type="slidenum">
              <a:rPr lang="en-US" sz="1600" smtClean="0"/>
              <a:pPr algn="just"/>
              <a:t>16</a:t>
            </a:fld>
            <a:endParaRPr lang="en-US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65B0B9-3009-7D6D-A69C-46FA81725C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043" y="78543"/>
            <a:ext cx="1861196" cy="86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718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3839</TotalTime>
  <Words>1319</Words>
  <Application>Microsoft Office PowerPoint</Application>
  <PresentationFormat>Widescreen</PresentationFormat>
  <Paragraphs>242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A Learning-Based Framework for Influential Node Detection in Weighted Graphs. Honours Project Phase1 Review1</vt:lpstr>
      <vt:lpstr>Outline</vt:lpstr>
      <vt:lpstr>Introduction</vt:lpstr>
      <vt:lpstr>Introduction</vt:lpstr>
      <vt:lpstr>Motivation</vt:lpstr>
      <vt:lpstr>Motivation</vt:lpstr>
      <vt:lpstr>Literature Review</vt:lpstr>
      <vt:lpstr>Literature Review</vt:lpstr>
      <vt:lpstr>Research Gaps</vt:lpstr>
      <vt:lpstr>Problem Statement</vt:lpstr>
      <vt:lpstr>Objectives</vt:lpstr>
      <vt:lpstr>Methodology</vt:lpstr>
      <vt:lpstr>Architecture</vt:lpstr>
      <vt:lpstr>Timeline</vt:lpstr>
      <vt:lpstr>References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Engineering</dc:title>
  <dc:creator>Arun Cyril</dc:creator>
  <cp:lastModifiedBy>ALBIN JOHN</cp:lastModifiedBy>
  <cp:revision>305</cp:revision>
  <dcterms:created xsi:type="dcterms:W3CDTF">2021-08-20T07:15:07Z</dcterms:created>
  <dcterms:modified xsi:type="dcterms:W3CDTF">2026-02-25T03:42:23Z</dcterms:modified>
</cp:coreProperties>
</file>